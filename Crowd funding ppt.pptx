
<file path=[Content_Types].xml><?xml version="1.0" encoding="utf-8"?>
<Types xmlns="http://schemas.openxmlformats.org/package/2006/content-types">
  <Default Extension="xml" ContentType="application/xml"/>
  <Default Extension="jpeg" ContentType="image/jpeg"/>
  <Default Extension="JPG" ContentType="image/.jpg"/>
  <Default Extension="xlsx" ContentType="application/vnd.openxmlformats-officedocument.spreadsheetml.sheet"/>
  <Default Extension="png" ContentType="image/png"/>
  <Default Extension="wdp" ContentType="image/vnd.ms-photo"/>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27"/>
  </p:handoutMasterIdLst>
  <p:sldIdLst>
    <p:sldId id="350" r:id="rId3"/>
    <p:sldId id="353" r:id="rId5"/>
    <p:sldId id="384" r:id="rId6"/>
    <p:sldId id="383" r:id="rId7"/>
    <p:sldId id="354" r:id="rId8"/>
    <p:sldId id="258" r:id="rId9"/>
    <p:sldId id="260" r:id="rId10"/>
    <p:sldId id="262" r:id="rId11"/>
    <p:sldId id="261" r:id="rId12"/>
    <p:sldId id="356" r:id="rId13"/>
    <p:sldId id="357" r:id="rId14"/>
    <p:sldId id="358" r:id="rId15"/>
    <p:sldId id="372" r:id="rId16"/>
    <p:sldId id="355" r:id="rId17"/>
    <p:sldId id="359" r:id="rId18"/>
    <p:sldId id="257" r:id="rId19"/>
    <p:sldId id="360" r:id="rId20"/>
    <p:sldId id="361" r:id="rId21"/>
    <p:sldId id="263" r:id="rId22"/>
    <p:sldId id="264" r:id="rId23"/>
    <p:sldId id="362" r:id="rId24"/>
    <p:sldId id="363" r:id="rId25"/>
    <p:sldId id="343" r:id="rId26"/>
  </p:sldIdLst>
  <p:sldSz cx="12192000" cy="6858000"/>
  <p:notesSz cx="6858000" cy="9144000"/>
  <p:defaultTextStyle>
    <a:defPPr rtl="0">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3" autoAdjust="0"/>
    <p:restoredTop sz="95226" autoAdjust="0"/>
  </p:normalViewPr>
  <p:slideViewPr>
    <p:cSldViewPr snapToGrid="0">
      <p:cViewPr varScale="1">
        <p:scale>
          <a:sx n="73" d="100"/>
          <a:sy n="73" d="100"/>
        </p:scale>
        <p:origin x="368" y="3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customXml" Target="../customXml/item3.xml"/><Relationship Id="rId33" Type="http://schemas.openxmlformats.org/officeDocument/2006/relationships/customXml" Target="../customXml/item2.xml"/><Relationship Id="rId32" Type="http://schemas.openxmlformats.org/officeDocument/2006/relationships/customXml" Target="../customXml/item1.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ACER\Downloads\Insurance%20Dashboard.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2225" cap="rnd">
              <a:solidFill>
                <a:schemeClr val="accent1"/>
              </a:solidFill>
              <a:round/>
            </a:ln>
            <a:effectLst/>
          </c:spPr>
          <c:marker>
            <c:symbol val="diamond"/>
            <c:size val="6"/>
            <c:spPr>
              <a:solidFill>
                <a:schemeClr val="accent1"/>
              </a:solidFill>
              <a:ln w="9525">
                <a:solidFill>
                  <a:schemeClr val="accent1"/>
                </a:solidFill>
                <a:round/>
              </a:ln>
              <a:effectLst/>
            </c:spPr>
          </c:marker>
          <c:dLbls>
            <c:dLbl>
              <c:idx val="0"/>
              <c:layout/>
              <c:tx>
                <c:rich>
                  <a:bodyPr rot="0" spcFirstLastPara="1" vertOverflow="ellipsis" vert="horz" wrap="square" lIns="38100" tIns="19050" rIns="38100" bIns="19050" anchor="ctr" anchorCtr="1"/>
                  <a:lstStyle/>
                  <a:p>
                    <a:pPr>
                      <a:defRPr lang="en-US" sz="1195" b="0" i="0" u="none" strike="noStrike" kern="1200" baseline="0">
                        <a:solidFill>
                          <a:schemeClr val="tx1">
                            <a:lumMod val="50000"/>
                            <a:lumOff val="50000"/>
                          </a:schemeClr>
                        </a:solidFill>
                        <a:latin typeface="+mn-lt"/>
                        <a:ea typeface="+mn-ea"/>
                        <a:cs typeface="+mn-cs"/>
                      </a:defRPr>
                    </a:pPr>
                    <a:r>
                      <a:rPr lang="en-US"/>
                      <a:t> 27K</a:t>
                    </a:r>
                    <a:endParaRPr lang="en-US"/>
                  </a:p>
                </c:rich>
              </c:tx>
              <c:dLblPos val="t"/>
              <c:showLegendKey val="0"/>
              <c:showVal val="1"/>
              <c:showCatName val="0"/>
              <c:showSerName val="0"/>
              <c:showPercent val="0"/>
              <c:showBubbleSize val="0"/>
              <c:extLst>
                <c:ext xmlns:c15="http://schemas.microsoft.com/office/drawing/2012/chart" uri="{CE6537A1-D6FC-4f65-9D91-7224C49458BB}"/>
              </c:extLst>
            </c:dLbl>
            <c:dLbl>
              <c:idx val="1"/>
              <c:layout/>
              <c:tx>
                <c:rich>
                  <a:bodyPr rot="0" spcFirstLastPara="1" vertOverflow="ellipsis" vert="horz" wrap="square" lIns="38100" tIns="19050" rIns="38100" bIns="19050" anchor="ctr" anchorCtr="1"/>
                  <a:lstStyle/>
                  <a:p>
                    <a:fld id="{698cfb3d-7fac-44fb-be2d-b1838f7d69b6}" type="VALUE">
                      <a:t>[VALUE]</a:t>
                    </a:fld>
                  </a:p>
                </c:rich>
              </c:tx>
              <c:dLblPos val="t"/>
              <c:showLegendKey val="0"/>
              <c:showVal val="1"/>
              <c:showCatName val="0"/>
              <c:showSerName val="0"/>
              <c:showPercent val="0"/>
              <c:showBubbleSize val="0"/>
              <c:extLst>
                <c:ext xmlns:c15="http://schemas.microsoft.com/office/drawing/2012/chart" uri="{CE6537A1-D6FC-4f65-9D91-7224C49458BB}"/>
              </c:extLst>
            </c:dLbl>
            <c:dLbl>
              <c:idx val="2"/>
              <c:layout/>
              <c:tx>
                <c:rich>
                  <a:bodyPr rot="0" spcFirstLastPara="1" vertOverflow="ellipsis" vert="horz" wrap="square" lIns="38100" tIns="19050" rIns="38100" bIns="19050" anchor="ctr" anchorCtr="1"/>
                  <a:lstStyle/>
                  <a:p>
                    <a:pPr>
                      <a:defRPr lang="en-US" sz="1195" b="0" i="0" u="none" strike="noStrike" kern="1200" baseline="0">
                        <a:solidFill>
                          <a:schemeClr val="tx1">
                            <a:lumMod val="50000"/>
                            <a:lumOff val="50000"/>
                          </a:schemeClr>
                        </a:solidFill>
                        <a:latin typeface="+mn-lt"/>
                        <a:ea typeface="+mn-ea"/>
                        <a:cs typeface="+mn-cs"/>
                      </a:defRPr>
                    </a:pPr>
                    <a:r>
                      <a:rPr lang="en-US"/>
                      <a:t>23K</a:t>
                    </a:r>
                    <a:endParaRPr lang="en-US" dirty="0"/>
                  </a:p>
                </c:rich>
              </c:tx>
              <c:dLblPos val="t"/>
              <c:showLegendKey val="0"/>
              <c:showVal val="1"/>
              <c:showCatName val="0"/>
              <c:showSerName val="0"/>
              <c:showPercent val="0"/>
              <c:showBubbleSize val="0"/>
              <c:extLst>
                <c:ext xmlns:c15="http://schemas.microsoft.com/office/drawing/2012/chart" uri="{CE6537A1-D6FC-4f65-9D91-7224C49458BB}"/>
              </c:extLst>
            </c:dLbl>
            <c:dLbl>
              <c:idx val="3"/>
              <c:layout/>
              <c:tx>
                <c:rich>
                  <a:bodyPr rot="0" spcFirstLastPara="1" vertOverflow="ellipsis" vert="horz" wrap="square" lIns="38100" tIns="19050" rIns="38100" bIns="19050" anchor="ctr" anchorCtr="1"/>
                  <a:lstStyle/>
                  <a:p>
                    <a:pPr>
                      <a:defRPr lang="en-US" sz="1195" b="0" i="0" u="none" strike="noStrike" kern="1200" baseline="0">
                        <a:solidFill>
                          <a:schemeClr val="tx1">
                            <a:lumMod val="50000"/>
                            <a:lumOff val="50000"/>
                          </a:schemeClr>
                        </a:solidFill>
                        <a:latin typeface="+mn-lt"/>
                        <a:ea typeface="+mn-ea"/>
                        <a:cs typeface="+mn-cs"/>
                      </a:defRPr>
                    </a:pPr>
                    <a:r>
                      <a:rPr lang="en-US"/>
                      <a:t>21K</a:t>
                    </a:r>
                    <a:endParaRPr lang="en-US" dirty="0"/>
                  </a:p>
                </c:rich>
              </c:tx>
              <c:dLblPos val="t"/>
              <c:showLegendKey val="0"/>
              <c:showVal val="1"/>
              <c:showCatName val="0"/>
              <c:showSerName val="0"/>
              <c:showPercent val="0"/>
              <c:showBubbleSize val="0"/>
              <c:extLst>
                <c:ext xmlns:c15="http://schemas.microsoft.com/office/drawing/2012/chart" uri="{CE6537A1-D6FC-4f65-9D91-7224C49458BB}"/>
              </c:extLst>
            </c:dLbl>
            <c:dLbl>
              <c:idx val="4"/>
              <c:layout/>
              <c:tx>
                <c:rich>
                  <a:bodyPr rot="0" spcFirstLastPara="1" vertOverflow="ellipsis" vert="horz" wrap="square" lIns="38100" tIns="19050" rIns="38100" bIns="19050" anchor="ctr" anchorCtr="1"/>
                  <a:lstStyle/>
                  <a:p>
                    <a:pPr>
                      <a:defRPr lang="en-US" sz="1195" b="0" i="0" u="none" strike="noStrike" kern="1200" baseline="0">
                        <a:solidFill>
                          <a:schemeClr val="tx1">
                            <a:lumMod val="50000"/>
                            <a:lumOff val="50000"/>
                          </a:schemeClr>
                        </a:solidFill>
                        <a:latin typeface="+mn-lt"/>
                        <a:ea typeface="+mn-ea"/>
                        <a:cs typeface="+mn-cs"/>
                      </a:defRPr>
                    </a:pPr>
                    <a:r>
                      <a:rPr lang="en-US"/>
                      <a:t>22K</a:t>
                    </a:r>
                    <a:endParaRPr lang="en-US" dirty="0"/>
                  </a:p>
                </c:rich>
              </c:tx>
              <c:dLblPos val="t"/>
              <c:showLegendKey val="0"/>
              <c:showVal val="1"/>
              <c:showCatName val="0"/>
              <c:showSerName val="0"/>
              <c:showPercent val="0"/>
              <c:showBubbleSize val="0"/>
              <c:extLst>
                <c:ext xmlns:c15="http://schemas.microsoft.com/office/drawing/2012/chart" uri="{CE6537A1-D6FC-4f65-9D91-7224C49458BB}"/>
              </c:extLst>
            </c:dLbl>
            <c:dLbl>
              <c:idx val="5"/>
              <c:layout/>
              <c:tx>
                <c:rich>
                  <a:bodyPr rot="0" spcFirstLastPara="1" vertOverflow="ellipsis" vert="horz" wrap="square" lIns="38100" tIns="19050" rIns="38100" bIns="19050" anchor="ctr" anchorCtr="1"/>
                  <a:lstStyle/>
                  <a:p>
                    <a:pPr>
                      <a:defRPr lang="en-US" sz="1195" b="0" i="0" u="none" strike="noStrike" kern="1200" baseline="0">
                        <a:solidFill>
                          <a:schemeClr val="tx1">
                            <a:lumMod val="50000"/>
                            <a:lumOff val="50000"/>
                          </a:schemeClr>
                        </a:solidFill>
                        <a:latin typeface="+mn-lt"/>
                        <a:ea typeface="+mn-ea"/>
                        <a:cs typeface="+mn-cs"/>
                      </a:defRPr>
                    </a:pPr>
                    <a:r>
                      <a:rPr lang="en-US"/>
                      <a:t>18K</a:t>
                    </a:r>
                    <a:endParaRPr lang="en-US" dirty="0"/>
                  </a:p>
                </c:rich>
              </c:tx>
              <c:dLblPos val="t"/>
              <c:showLegendKey val="0"/>
              <c:showVal val="1"/>
              <c:showCatName val="0"/>
              <c:showSerName val="0"/>
              <c:showPercent val="0"/>
              <c:showBubbleSize val="0"/>
              <c:extLst>
                <c:ext xmlns:c15="http://schemas.microsoft.com/office/drawing/2012/chart" uri="{CE6537A1-D6FC-4f65-9D91-7224C49458BB}"/>
              </c:extLst>
            </c:dLbl>
            <c:dLbl>
              <c:idx val="6"/>
              <c:layout/>
              <c:tx>
                <c:rich>
                  <a:bodyPr rot="0" spcFirstLastPara="1" vertOverflow="ellipsis" vert="horz" wrap="square" lIns="38100" tIns="19050" rIns="38100" bIns="19050" anchor="ctr" anchorCtr="1"/>
                  <a:lstStyle/>
                  <a:p>
                    <a:pPr>
                      <a:defRPr lang="en-US" sz="1195" b="0" i="0" u="none" strike="noStrike" kern="1200" baseline="0">
                        <a:solidFill>
                          <a:schemeClr val="tx1">
                            <a:lumMod val="50000"/>
                            <a:lumOff val="50000"/>
                          </a:schemeClr>
                        </a:solidFill>
                        <a:latin typeface="+mn-lt"/>
                        <a:ea typeface="+mn-ea"/>
                        <a:cs typeface="+mn-cs"/>
                      </a:defRPr>
                    </a:pPr>
                    <a:r>
                      <a:rPr lang="en-US" dirty="0"/>
                      <a:t>0.70</a:t>
                    </a:r>
                    <a:endParaRPr lang="en-US" dirty="0"/>
                  </a:p>
                </c:rich>
              </c:tx>
              <c:dLblPos val="t"/>
              <c:showLegendKey val="0"/>
              <c:showVal val="1"/>
              <c:showCatName val="0"/>
              <c:showSerName val="0"/>
              <c:showPercent val="0"/>
              <c:showBubbleSize val="0"/>
              <c:extLs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lang="en-US" sz="1195" b="0" i="0" u="none" strike="noStrike" kern="1200" baseline="0">
                    <a:solidFill>
                      <a:schemeClr val="tx1">
                        <a:lumMod val="50000"/>
                        <a:lumOff val="50000"/>
                      </a:schemeClr>
                    </a:solidFill>
                    <a:latin typeface="+mn-lt"/>
                    <a:ea typeface="+mn-ea"/>
                    <a:cs typeface="+mn-cs"/>
                  </a:defRPr>
                </a:pPr>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tx1">
                          <a:lumMod val="35000"/>
                          <a:lumOff val="65000"/>
                        </a:schemeClr>
                      </a:solidFill>
                    </a:ln>
                    <a:effectLst/>
                  </c:spPr>
                </c15:leaderLines>
              </c:ext>
            </c:extLst>
          </c:dLbls>
          <c:cat>
            <c:numRef>
              <c:f>Sheet1!$A$2:$A$8</c:f>
              <c:numCache>
                <c:formatCode>General</c:formatCode>
                <c:ptCount val="7"/>
                <c:pt idx="0">
                  <c:v>2013</c:v>
                </c:pt>
                <c:pt idx="1">
                  <c:v>2014</c:v>
                </c:pt>
                <c:pt idx="2">
                  <c:v>2015</c:v>
                </c:pt>
                <c:pt idx="3">
                  <c:v>2016</c:v>
                </c:pt>
                <c:pt idx="4">
                  <c:v>2017</c:v>
                </c:pt>
                <c:pt idx="5">
                  <c:v>2018</c:v>
                </c:pt>
                <c:pt idx="6">
                  <c:v>2019</c:v>
                </c:pt>
              </c:numCache>
            </c:numRef>
          </c:cat>
          <c:val>
            <c:numRef>
              <c:f>Sheet1!$B$2:$B$8</c:f>
              <c:numCache>
                <c:formatCode>General</c:formatCode>
                <c:ptCount val="7"/>
                <c:pt idx="0">
                  <c:v>27</c:v>
                </c:pt>
                <c:pt idx="1">
                  <c:v>29</c:v>
                </c:pt>
                <c:pt idx="2">
                  <c:v>23</c:v>
                </c:pt>
                <c:pt idx="3">
                  <c:v>21</c:v>
                </c:pt>
                <c:pt idx="4">
                  <c:v>22</c:v>
                </c:pt>
                <c:pt idx="5">
                  <c:v>18</c:v>
                </c:pt>
                <c:pt idx="6">
                  <c:v>0.7</c:v>
                </c:pt>
              </c:numCache>
            </c:numRef>
          </c:val>
          <c:smooth val="0"/>
        </c:ser>
        <c:dLbls>
          <c:showLegendKey val="0"/>
          <c:showVal val="1"/>
          <c:showCatName val="0"/>
          <c:showSerName val="0"/>
          <c:showPercent val="0"/>
          <c:showBubbleSize val="0"/>
        </c:dLbls>
        <c:marker val="1"/>
        <c:smooth val="0"/>
        <c:axId val="611379024"/>
        <c:axId val="611383824"/>
      </c:lineChart>
      <c:catAx>
        <c:axId val="611379024"/>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065" b="0" i="0" u="none" strike="noStrike" kern="1200" cap="all" spc="120" normalizeH="0" baseline="0">
                <a:solidFill>
                  <a:schemeClr val="tx1">
                    <a:lumMod val="65000"/>
                    <a:lumOff val="35000"/>
                  </a:schemeClr>
                </a:solidFill>
                <a:latin typeface="+mn-lt"/>
                <a:ea typeface="+mn-ea"/>
                <a:cs typeface="+mn-cs"/>
              </a:defRPr>
            </a:pPr>
          </a:p>
        </c:txPr>
        <c:crossAx val="611383824"/>
        <c:crosses val="autoZero"/>
        <c:auto val="1"/>
        <c:lblAlgn val="ctr"/>
        <c:lblOffset val="100"/>
        <c:noMultiLvlLbl val="0"/>
      </c:catAx>
      <c:valAx>
        <c:axId val="611383824"/>
        <c:scaling>
          <c:orientation val="minMax"/>
        </c:scaling>
        <c:delete val="0"/>
        <c:axPos val="l"/>
        <c:numFmt formatCode="General" sourceLinked="0"/>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lang="en-US" sz="1195" b="0" i="0" u="none" strike="noStrike" kern="1200" baseline="0">
                <a:solidFill>
                  <a:schemeClr val="tx1">
                    <a:lumMod val="65000"/>
                    <a:lumOff val="35000"/>
                  </a:schemeClr>
                </a:solidFill>
                <a:latin typeface="+mn-lt"/>
                <a:ea typeface="+mn-ea"/>
                <a:cs typeface="+mn-cs"/>
              </a:defRPr>
            </a:pPr>
          </a:p>
        </c:txPr>
        <c:crossAx val="611379024"/>
        <c:crosses val="autoZero"/>
        <c:crossBetween val="between"/>
      </c:valAx>
      <c:spPr>
        <a:noFill/>
        <a:ln>
          <a:noFill/>
        </a:ln>
        <a:effectLst/>
      </c:spPr>
    </c:plotArea>
    <c:plotVisOnly val="1"/>
    <c:dispBlanksAs val="gap"/>
    <c:showDLblsOverMax val="0"/>
    <c:extLst>
      <c:ext uri="{0b15fc19-7d7d-44ad-8c2d-2c3a37ce22c3}">
        <chartProps xmlns="https://web.wps.cn/et/2018/main" chartId="{ad5aa672-7c12-46a0-ab18-a04e5f4497a5}"/>
      </c:ext>
    </c:extLst>
  </c:chart>
  <c:spPr>
    <a:noFill/>
    <a:ln w="9525" cap="flat" cmpd="sng" algn="ctr">
      <a:noFill/>
      <a:round/>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9947282864906"/>
          <c:y val="0.164390970229636"/>
          <c:w val="0.477125495732452"/>
          <c:h val="0.70518173342692"/>
        </c:manualLayout>
      </c:layout>
      <c:pieChart>
        <c:varyColors val="1"/>
        <c:ser>
          <c:idx val="0"/>
          <c:order val="0"/>
          <c:tx>
            <c:strRef>
              <c:f>Sheet1!$B$1</c:f>
              <c:strCache>
                <c:ptCount val="1"/>
                <c:pt idx="0">
                  <c:v>Sales</c:v>
                </c:pt>
              </c:strCache>
            </c:strRef>
          </c:tx>
          <c:spPr/>
          <c:explosion val="0"/>
          <c:dPt>
            <c:idx val="0"/>
            <c:bubble3D val="0"/>
            <c:spPr>
              <a:solidFill>
                <a:srgbClr val="B2BA35"/>
              </a:solidFill>
              <a:ln w="19050">
                <a:solidFill>
                  <a:schemeClr val="lt1"/>
                </a:solidFill>
              </a:ln>
              <a:effectLst/>
            </c:spPr>
          </c:dPt>
          <c:dPt>
            <c:idx val="1"/>
            <c:bubble3D val="0"/>
            <c:spPr>
              <a:solidFill>
                <a:schemeClr val="accent2">
                  <a:lumMod val="75000"/>
                </a:schemeClr>
              </a:solidFill>
              <a:ln w="19050">
                <a:solidFill>
                  <a:schemeClr val="lt1"/>
                </a:solidFill>
              </a:ln>
              <a:effectLst/>
            </c:spPr>
          </c:dPt>
          <c:dPt>
            <c:idx val="2"/>
            <c:bubble3D val="0"/>
            <c:spPr>
              <a:solidFill>
                <a:schemeClr val="accent3"/>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lang="en-US" sz="3200" b="1" i="0" u="none" strike="noStrike" kern="1200" baseline="0">
                    <a:solidFill>
                      <a:schemeClr val="bg1"/>
                    </a:solidFill>
                    <a:latin typeface="Lora" pitchFamily="2" charset="0"/>
                    <a:ea typeface="+mn-ea"/>
                    <a:cs typeface="+mn-cs"/>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Successful</c:v>
                </c:pt>
                <c:pt idx="1">
                  <c:v>Failed</c:v>
                </c:pt>
                <c:pt idx="2">
                  <c:v>Canceled</c:v>
                </c:pt>
              </c:strCache>
            </c:strRef>
          </c:cat>
          <c:val>
            <c:numRef>
              <c:f>Sheet1!$B$2:$B$4</c:f>
              <c:numCache>
                <c:formatCode>0%</c:formatCode>
                <c:ptCount val="3"/>
                <c:pt idx="0">
                  <c:v>0.38</c:v>
                </c:pt>
                <c:pt idx="1">
                  <c:v>0.52</c:v>
                </c:pt>
                <c:pt idx="2">
                  <c:v>0.09</c:v>
                </c:pt>
              </c:numCache>
            </c:numRef>
          </c:val>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uri="{0b15fc19-7d7d-44ad-8c2d-2c3a37ce22c3}">
        <chartProps xmlns="https://web.wps.cn/et/2018/main" chartId="{96b722e0-2666-4087-9ec9-099afecd02f3}"/>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857094004379519"/>
          <c:y val="0.0374345346166186"/>
          <c:w val="0.899236836439827"/>
          <c:h val="0.874311586121409"/>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2"/>
              </a:solidFill>
              <a:ln>
                <a:noFill/>
              </a:ln>
              <a:effectLst/>
            </c:spPr>
          </c:dPt>
          <c:dPt>
            <c:idx val="1"/>
            <c:invertIfNegative val="0"/>
            <c:bubble3D val="0"/>
            <c:spPr>
              <a:solidFill>
                <a:schemeClr val="accent5"/>
              </a:solidFill>
              <a:ln>
                <a:noFill/>
              </a:ln>
              <a:effectLst/>
            </c:spPr>
          </c:dPt>
          <c:dPt>
            <c:idx val="3"/>
            <c:invertIfNegative val="0"/>
            <c:bubble3D val="0"/>
            <c:spPr>
              <a:solidFill>
                <a:srgbClr val="7030A0"/>
              </a:solidFill>
              <a:ln>
                <a:noFill/>
              </a:ln>
              <a:effectLst/>
            </c:spPr>
          </c:dPt>
          <c:dPt>
            <c:idx val="4"/>
            <c:invertIfNegative val="0"/>
            <c:bubble3D val="0"/>
            <c:spPr>
              <a:solidFill>
                <a:schemeClr val="accent6">
                  <a:lumMod val="75000"/>
                </a:schemeClr>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lang="en-US" sz="1195" b="0" i="0" u="none" strike="noStrike" kern="1200" baseline="0">
                    <a:solidFill>
                      <a:schemeClr val="tx1">
                        <a:lumMod val="75000"/>
                        <a:lumOff val="25000"/>
                      </a:schemeClr>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Product Design</c:v>
                </c:pt>
                <c:pt idx="1">
                  <c:v>Tabletop Games</c:v>
                </c:pt>
                <c:pt idx="2">
                  <c:v>Music</c:v>
                </c:pt>
                <c:pt idx="3">
                  <c:v>Documentry</c:v>
                </c:pt>
                <c:pt idx="4">
                  <c:v>Video Games</c:v>
                </c:pt>
              </c:strCache>
            </c:strRef>
          </c:cat>
          <c:val>
            <c:numRef>
              <c:f>Sheet1!$B$2:$B$6</c:f>
              <c:numCache>
                <c:formatCode>0%</c:formatCode>
                <c:ptCount val="5"/>
                <c:pt idx="0">
                  <c:v>0.2839</c:v>
                </c:pt>
                <c:pt idx="1">
                  <c:v>0.2</c:v>
                </c:pt>
                <c:pt idx="2">
                  <c:v>0.19</c:v>
                </c:pt>
                <c:pt idx="3">
                  <c:v>0.17</c:v>
                </c:pt>
                <c:pt idx="4">
                  <c:v>0.14</c:v>
                </c:pt>
              </c:numCache>
            </c:numRef>
          </c:val>
        </c:ser>
        <c:dLbls>
          <c:showLegendKey val="0"/>
          <c:showVal val="1"/>
          <c:showCatName val="0"/>
          <c:showSerName val="0"/>
          <c:showPercent val="0"/>
          <c:showBubbleSize val="0"/>
        </c:dLbls>
        <c:gapWidth val="219"/>
        <c:overlap val="-27"/>
        <c:axId val="350628272"/>
        <c:axId val="350623024"/>
      </c:barChart>
      <c:catAx>
        <c:axId val="35062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195" b="0" i="0" u="none" strike="noStrike" kern="1200" baseline="0">
                <a:solidFill>
                  <a:schemeClr val="bg1"/>
                </a:solidFill>
                <a:latin typeface="Lora" pitchFamily="2" charset="0"/>
                <a:ea typeface="+mn-ea"/>
                <a:cs typeface="+mn-cs"/>
              </a:defRPr>
            </a:pPr>
          </a:p>
        </c:txPr>
        <c:crossAx val="350623024"/>
        <c:crosses val="autoZero"/>
        <c:auto val="1"/>
        <c:lblAlgn val="ctr"/>
        <c:lblOffset val="100"/>
        <c:noMultiLvlLbl val="0"/>
      </c:catAx>
      <c:valAx>
        <c:axId val="350623024"/>
        <c:scaling>
          <c:orientation val="minMax"/>
        </c:scaling>
        <c:delete val="0"/>
        <c:axPos val="l"/>
        <c:majorGridlines>
          <c:spPr>
            <a:ln w="9525" cap="flat" cmpd="sng" algn="ctr">
              <a:solidFill>
                <a:schemeClr val="bg1"/>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1195" b="0" i="0" u="none" strike="noStrike" kern="1200" baseline="0">
                <a:solidFill>
                  <a:schemeClr val="bg1"/>
                </a:solidFill>
                <a:latin typeface="Lora" pitchFamily="2" charset="0"/>
                <a:ea typeface="+mn-ea"/>
                <a:cs typeface="+mn-cs"/>
              </a:defRPr>
            </a:pPr>
          </a:p>
        </c:txPr>
        <c:crossAx val="350628272"/>
        <c:crosses val="autoZero"/>
        <c:crossBetween val="between"/>
      </c:valAx>
      <c:spPr>
        <a:noFill/>
        <a:ln>
          <a:noFill/>
        </a:ln>
        <a:effectLst/>
      </c:spPr>
    </c:plotArea>
    <c:plotVisOnly val="1"/>
    <c:dispBlanksAs val="gap"/>
    <c:showDLblsOverMax val="0"/>
    <c:extLst>
      <c:ext uri="{0b15fc19-7d7d-44ad-8c2d-2c3a37ce22c3}">
        <chartProps xmlns="https://web.wps.cn/et/2018/main" chartId="{64cb1d74-3cb5-4c09-b3ba-a1f833122bae}"/>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1" i="0" u="none" strike="noStrike" kern="1200" cap="all" spc="50" baseline="0">
                <a:solidFill>
                  <a:schemeClr val="tx1">
                    <a:lumMod val="65000"/>
                    <a:lumOff val="35000"/>
                  </a:schemeClr>
                </a:solidFill>
                <a:latin typeface="+mn-lt"/>
                <a:ea typeface="+mn-ea"/>
                <a:cs typeface="+mn-cs"/>
              </a:defRPr>
            </a:pPr>
            <a:r>
              <a:rPr lang="en-US"/>
              <a:t>Yearly meeting count</a:t>
            </a:r>
            <a:endParaRPr lang="en-US"/>
          </a:p>
        </c:rich>
      </c:tx>
      <c:layout/>
      <c:overlay val="0"/>
      <c:spPr>
        <a:noFill/>
        <a:ln>
          <a:noFill/>
        </a:ln>
        <a:effectLst/>
      </c:spPr>
    </c:title>
    <c:autoTitleDeleted val="0"/>
    <c:plotArea>
      <c:layout/>
      <c:pieChart>
        <c:varyColors val="1"/>
        <c:ser>
          <c:idx val="0"/>
          <c:order val="0"/>
          <c:tx>
            <c:strRef>
              <c:f>'[Insurance Dashboard.xlsx]Meeting_Date'!$J$3</c:f>
              <c:strCache>
                <c:ptCount val="1"/>
                <c:pt idx="0">
                  <c:v>Count of meeting_date</c:v>
                </c:pt>
              </c:strCache>
            </c:strRef>
          </c:tx>
          <c:spPr/>
          <c:explosion val="0"/>
          <c:dPt>
            <c:idx val="0"/>
            <c:bubble3D val="0"/>
            <c:spPr>
              <a:solidFill>
                <a:schemeClr val="accent1"/>
              </a:solidFill>
              <a:ln>
                <a:noFill/>
              </a:ln>
              <a:effectLst/>
              <a:scene3d>
                <a:camera prst="orthographicFront"/>
                <a:lightRig rig="brightRoom" dir="t"/>
              </a:scene3d>
              <a:sp3d prstMaterial="flat">
                <a:bevelT w="50800" h="101600" prst="angle"/>
                <a:contourClr>
                  <a:srgbClr val="000000"/>
                </a:contourClr>
              </a:sp3d>
            </c:spPr>
          </c:dPt>
          <c:dPt>
            <c:idx val="1"/>
            <c:bubble3D val="0"/>
            <c:spPr>
              <a:solidFill>
                <a:schemeClr val="accent2"/>
              </a:solidFill>
              <a:ln>
                <a:noFill/>
              </a:ln>
              <a:effectLst/>
              <a:scene3d>
                <a:camera prst="orthographicFront"/>
                <a:lightRig rig="brightRoom" dir="t"/>
              </a:scene3d>
              <a:sp3d prstMaterial="flat">
                <a:bevelT w="50800" h="101600" prst="angle"/>
                <a:contourClr>
                  <a:srgbClr val="000000"/>
                </a:contourClr>
              </a:sp3d>
            </c:spPr>
          </c:dPt>
          <c:dPt>
            <c:idx val="2"/>
            <c:bubble3D val="0"/>
            <c:spPr>
              <a:solidFill>
                <a:schemeClr val="accent3"/>
              </a:solidFill>
              <a:ln>
                <a:noFill/>
              </a:ln>
              <a:effectLst/>
            </c:spPr>
          </c:dPt>
          <c:dLbls>
            <c:spPr>
              <a:noFill/>
              <a:ln>
                <a:noFill/>
              </a:ln>
              <a:effectLst/>
            </c:spPr>
            <c:txPr>
              <a:bodyPr rot="0" spcFirstLastPara="1" vertOverflow="ellipsis" vert="horz" wrap="square" lIns="38100" tIns="19050" rIns="38100" bIns="19050" anchor="ctr" anchorCtr="1">
                <a:spAutoFit/>
              </a:bodyPr>
              <a:lstStyle/>
              <a:p>
                <a:pPr>
                  <a:defRPr lang="en-US" sz="900" b="1" i="0" u="none" strike="noStrike" kern="1200" baseline="0">
                    <a:solidFill>
                      <a:schemeClr val="lt1"/>
                    </a:solidFill>
                    <a:latin typeface="+mn-lt"/>
                    <a:ea typeface="+mn-ea"/>
                    <a:cs typeface="+mn-cs"/>
                  </a:defRPr>
                </a:pPr>
              </a:p>
            </c:txPr>
            <c:dLblPos val="inEnd"/>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'[Insurance Dashboard.xlsx]Meeting_Date'!$I$4:$I$6</c:f>
              <c:strCache>
                <c:ptCount val="3"/>
                <c:pt idx="0">
                  <c:v>2019</c:v>
                </c:pt>
                <c:pt idx="1">
                  <c:v>2020</c:v>
                </c:pt>
                <c:pt idx="2">
                  <c:v>Grand Total</c:v>
                </c:pt>
              </c:strCache>
            </c:strRef>
          </c:cat>
          <c:val>
            <c:numRef>
              <c:f>'[Insurance Dashboard.xlsx]Meeting_Date'!$J$4:$J$6</c:f>
              <c:numCache>
                <c:formatCode>General</c:formatCode>
                <c:ptCount val="3"/>
                <c:pt idx="0">
                  <c:v>3</c:v>
                </c:pt>
                <c:pt idx="1">
                  <c:v>31</c:v>
                </c:pt>
                <c:pt idx="2">
                  <c:v>34</c:v>
                </c:pt>
              </c:numCache>
            </c:numRef>
          </c:val>
        </c:ser>
        <c:dLbls>
          <c:showLegendKey val="0"/>
          <c:showVal val="0"/>
          <c:showCatName val="0"/>
          <c:showSerName val="0"/>
          <c:showPercent val="1"/>
          <c:showBubbleSize val="0"/>
          <c:showLeaderLines val="1"/>
        </c:dLbls>
        <c:firstSliceAng val="0"/>
      </c:pieChart>
      <c:spPr>
        <a:noFill/>
        <a:ln>
          <a:noFill/>
        </a:ln>
        <a:effectLst/>
      </c:spPr>
    </c:plotArea>
    <c:legend>
      <c:legendPos val="r"/>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b0d76129-b2b5-4c6f-8a7d-0a4e3ad95fd3}"/>
      </c:ext>
    </c:extLst>
  </c:chart>
  <c:spPr>
    <a:solidFill>
      <a:schemeClr val="bg1"/>
    </a:solidFill>
    <a:ln w="9525" cap="flat" cmpd="sng" algn="ctr">
      <a:solidFill>
        <a:schemeClr val="tx1">
          <a:lumMod val="15000"/>
          <a:lumOff val="85000"/>
        </a:schemeClr>
      </a:solidFill>
      <a:round/>
    </a:ln>
    <a:effectLst/>
  </c:spPr>
  <c:txPr>
    <a:bodyPr/>
    <a:lstStyle/>
    <a:p>
      <a:pPr>
        <a:defRPr lang="en-US"/>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9">
  <cs:axisTitle>
    <cs:lnRef idx="0"/>
    <cs:fillRef idx="0"/>
    <cs:effectRef idx="0"/>
    <cs:fontRef idx="minor">
      <a:schemeClr val="tx1">
        <a:lumMod val="65000"/>
        <a:lumOff val="35000"/>
      </a:schemeClr>
    </cs:fontRef>
    <cs:defRPr sz="1195"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5"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50000"/>
        <a:lumOff val="50000"/>
      </a:schemeClr>
    </cs:fontRef>
    <cs:defRPr sz="1195"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5"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30"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5"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5"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8">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lt1"/>
    </cs:fontRef>
    <cs:defRPr sz="900" b="1"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scene3d>
        <a:camera prst="orthographicFront"/>
        <a:lightRig rig="brightRoom" dir="t"/>
      </a:scene3d>
      <a:sp3d prstMaterial="flat">
        <a:bevelT w="50800" h="101600" prst="angle"/>
        <a:contourClr>
          <a:srgbClr val="000000"/>
        </a:contourClr>
      </a:sp3d>
    </cs:spPr>
  </cs:dataPoint>
  <cs:dataPoint3D>
    <cs:lnRef idx="0"/>
    <cs:fillRef idx="0">
      <cs:styleClr val="auto"/>
    </cs:fillRef>
    <cs:effectRef idx="0"/>
    <cs:fontRef idx="minor">
      <a:schemeClr val="tx1"/>
    </cs:fontRef>
    <cs:spPr>
      <a:solidFill>
        <a:schemeClr val="phClr"/>
      </a:solidFill>
      <a:ln w="1905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1" i="0" kern="1200" cap="all" spc="50"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n-GB" smtClean="0"/>
            </a:fld>
            <a:endParaRPr lang="en-GB"/>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CA15AE-E040-4F31-96C6-FD066D034FFB}" type="datetime1">
              <a:rPr lang="en-GB" smtClean="0"/>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endParaRPr lang="en-GB" noProof="0"/>
          </a:p>
          <a:p>
            <a:pPr lvl="1" rtl="0"/>
            <a:r>
              <a:rPr lang="en-GB" noProof="0"/>
              <a:t>Second level</a:t>
            </a:r>
            <a:endParaRPr lang="en-GB" noProof="0"/>
          </a:p>
          <a:p>
            <a:pPr lvl="2" rtl="0"/>
            <a:r>
              <a:rPr lang="en-GB" noProof="0"/>
              <a:t>Third level</a:t>
            </a:r>
            <a:endParaRPr lang="en-GB" noProof="0"/>
          </a:p>
          <a:p>
            <a:pPr lvl="3" rtl="0"/>
            <a:r>
              <a:rPr lang="en-GB" noProof="0"/>
              <a:t>Quarter level</a:t>
            </a:r>
            <a:endParaRPr lang="en-GB" noProof="0"/>
          </a:p>
          <a:p>
            <a:pPr lvl="4" rtl="0"/>
            <a:r>
              <a:rPr lang="en-GB" noProof="0"/>
              <a:t>Fifth level</a:t>
            </a:r>
            <a:endParaRPr lang="en-GB"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n-GB" noProof="0" smtClean="0"/>
            </a:fld>
            <a:endParaRPr lang="en-GB" noProof="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A89C7E07-3C67-C64C-8DA0-0404F6303970}" type="slidenum">
              <a:rPr lang="en-GB" smtClean="0"/>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fld>
            <a:endParaRPr lang="en-GB"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fld>
            <a:endParaRPr lang="en-GB"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rtlCol="0"/>
          <a:lstStyle/>
          <a:p>
            <a:pPr rtl="0"/>
            <a:endParaRPr lang="en-GB"/>
          </a:p>
        </p:txBody>
      </p:sp>
      <p:sp>
        <p:nvSpPr>
          <p:cNvPr id="4" name="Slide Number Placeholder 3"/>
          <p:cNvSpPr>
            <a:spLocks noGrp="1"/>
          </p:cNvSpPr>
          <p:nvPr>
            <p:ph type="sldNum" sz="quarter" idx="5"/>
          </p:nvPr>
        </p:nvSpPr>
        <p:spPr/>
        <p:txBody>
          <a:bodyPr rtlCol="0"/>
          <a:lstStyle/>
          <a:p>
            <a:pPr rtl="0"/>
            <a:fld id="{A89C7E07-3C67-C64C-8DA0-0404F6303970}" type="slidenum">
              <a:rPr lang="en-GB" smtClean="0"/>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n-US" noProof="0"/>
              <a:t>Click to edit Master title style</a:t>
            </a:r>
            <a:endParaRPr lang="en-GB" noProof="0" dirty="0"/>
          </a:p>
        </p:txBody>
      </p:sp>
      <p:grpSp>
        <p:nvGrpSpPr>
          <p:cNvPr id="9" name="Group 8"/>
          <p:cNvGrpSpPr/>
          <p:nvPr userDrawn="1"/>
        </p:nvGrpSpPr>
        <p:grpSpPr bwMode="auto">
          <a:xfrm>
            <a:off x="1" y="758752"/>
            <a:ext cx="6099248" cy="6099248"/>
            <a:chOff x="0" y="12289"/>
            <a:chExt cx="3550" cy="3551"/>
          </a:xfrm>
        </p:grpSpPr>
        <p:sp>
          <p:nvSpPr>
            <p:cNvPr id="10" name="Freeform 9"/>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11" name="Freeform 10"/>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12" name="Freeform 11"/>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grpSp>
      <p:sp>
        <p:nvSpPr>
          <p:cNvPr id="18" name="Text Placeholder 29"/>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cxnSp>
        <p:nvCxnSpPr>
          <p:cNvPr id="13" name="Straight Connector 12"/>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p:cNvGrpSpPr/>
          <p:nvPr userDrawn="1"/>
        </p:nvGrpSpPr>
        <p:grpSpPr>
          <a:xfrm>
            <a:off x="6362700" y="0"/>
            <a:ext cx="5829298" cy="3235602"/>
            <a:chOff x="5612972" y="1"/>
            <a:chExt cx="6615961" cy="3672246"/>
          </a:xfrm>
        </p:grpSpPr>
        <p:sp>
          <p:nvSpPr>
            <p:cNvPr id="7" name="AutoShape 24"/>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8" name="Freeform 7"/>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9" name="Freeform 8"/>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10" name="Freeform 9"/>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dirty="0"/>
            </a:p>
          </p:txBody>
        </p:sp>
        <p:sp>
          <p:nvSpPr>
            <p:cNvPr id="11" name="Freeform 10"/>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grpSp>
      <p:sp>
        <p:nvSpPr>
          <p:cNvPr id="12" name="Title 1"/>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n-US" noProof="0"/>
              <a:t>Click to edit Master title style</a:t>
            </a:r>
            <a:endParaRPr lang="en-GB" noProof="0" dirty="0"/>
          </a:p>
        </p:txBody>
      </p:sp>
      <p:cxnSp>
        <p:nvCxnSpPr>
          <p:cNvPr id="13" name="Straight Connector 12"/>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15" name="Text Placeholder 29"/>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cxnSp>
        <p:nvCxnSpPr>
          <p:cNvPr id="16" name="Straight Connector 15"/>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18" name="Text Placeholder 29"/>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cxnSp>
        <p:nvCxnSpPr>
          <p:cNvPr id="20" name="Straight Connector 19"/>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22" name="Text Placeholder 29"/>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cxnSp>
        <p:nvCxnSpPr>
          <p:cNvPr id="23" name="Straight Connector 22"/>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25" name="Text Placeholder 29"/>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cxnSp>
        <p:nvCxnSpPr>
          <p:cNvPr id="26" name="Straight Connector 25"/>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28" name="Text Placeholder 29"/>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2" name="Date Placeholder 1"/>
          <p:cNvSpPr>
            <a:spLocks noGrp="1"/>
          </p:cNvSpPr>
          <p:nvPr>
            <p:ph type="dt" sz="half" idx="25"/>
          </p:nvPr>
        </p:nvSpPr>
        <p:spPr/>
        <p:txBody>
          <a:bodyPr rtlCol="0"/>
          <a:lstStyle/>
          <a:p>
            <a:pPr rtl="0"/>
            <a:fld id="{C02CDA83-4160-4EEB-AD7D-1C57C21837F3}" type="datetime3">
              <a:rPr lang="en-GB" noProof="0" smtClean="0">
                <a:latin typeface="+mn-lt"/>
              </a:rPr>
            </a:fld>
            <a:endParaRPr lang="en-GB" noProof="0" dirty="0">
              <a:latin typeface="+mn-lt"/>
            </a:endParaRPr>
          </a:p>
        </p:txBody>
      </p:sp>
      <p:sp>
        <p:nvSpPr>
          <p:cNvPr id="3" name="Footer Placeholder 2"/>
          <p:cNvSpPr>
            <a:spLocks noGrp="1"/>
          </p:cNvSpPr>
          <p:nvPr>
            <p:ph type="ftr" sz="quarter" idx="26"/>
          </p:nvPr>
        </p:nvSpPr>
        <p:spPr/>
        <p:txBody>
          <a:bodyPr rtlCol="0"/>
          <a:lstStyle/>
          <a:p>
            <a:pPr rtl="0"/>
            <a:r>
              <a:rPr lang="en-GB" noProof="0" dirty="0"/>
              <a:t>Annual Review</a:t>
            </a:r>
            <a:endParaRPr lang="en-GB" b="0" noProof="0" dirty="0"/>
          </a:p>
        </p:txBody>
      </p:sp>
      <p:sp>
        <p:nvSpPr>
          <p:cNvPr id="4" name="Slide Number Placeholder 3"/>
          <p:cNvSpPr>
            <a:spLocks noGrp="1"/>
          </p:cNvSpPr>
          <p:nvPr>
            <p:ph type="sldNum" sz="quarter" idx="27"/>
          </p:nvPr>
        </p:nvSpPr>
        <p:spPr/>
        <p:txBody>
          <a:bodyPr rtlCol="0"/>
          <a:lstStyle/>
          <a:p>
            <a:pPr rtl="0"/>
            <a:fld id="{294A09A9-5501-47C1-A89A-A340965A2BE2}" type="slidenum">
              <a:rPr lang="en-GB" noProof="0" smtClean="0"/>
            </a:fld>
            <a:endParaRPr lang="en-GB"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p:cNvGrpSpPr/>
          <p:nvPr userDrawn="1"/>
        </p:nvGrpSpPr>
        <p:grpSpPr bwMode="auto">
          <a:xfrm rot="16200000" flipV="1">
            <a:off x="0" y="3900132"/>
            <a:ext cx="2959226" cy="2959226"/>
            <a:chOff x="0" y="12289"/>
            <a:chExt cx="3550" cy="3551"/>
          </a:xfrm>
        </p:grpSpPr>
        <p:sp>
          <p:nvSpPr>
            <p:cNvPr id="15" name="Freeform 14"/>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16" name="Freeform 15"/>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19" name="Freeform 18"/>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grpSp>
      <p:sp>
        <p:nvSpPr>
          <p:cNvPr id="14" name="Picture Placeholder 2"/>
          <p:cNvSpPr>
            <a:spLocks noGrp="1"/>
          </p:cNvSpPr>
          <p:nvPr>
            <p:ph type="pic" sz="quarter" idx="13"/>
          </p:nvPr>
        </p:nvSpPr>
        <p:spPr>
          <a:xfrm>
            <a:off x="6096000" y="-22543"/>
            <a:ext cx="6096000" cy="6903086"/>
          </a:xfrm>
        </p:spPr>
        <p:txBody>
          <a:bodyPr rtlCol="0"/>
          <a:lstStyle/>
          <a:p>
            <a:pPr rtl="0"/>
            <a:r>
              <a:rPr lang="en-US" noProof="0"/>
              <a:t>Click icon to add picture</a:t>
            </a:r>
            <a:endParaRPr lang="en-GB" noProof="0" dirty="0"/>
          </a:p>
        </p:txBody>
      </p:sp>
      <p:sp>
        <p:nvSpPr>
          <p:cNvPr id="9" name="Title 1"/>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17" name="Straight Connector 16"/>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2" name="Date Placeholder 1"/>
          <p:cNvSpPr>
            <a:spLocks noGrp="1"/>
          </p:cNvSpPr>
          <p:nvPr>
            <p:ph type="dt" sz="half" idx="14"/>
          </p:nvPr>
        </p:nvSpPr>
        <p:spPr/>
        <p:txBody>
          <a:bodyPr rtlCol="0"/>
          <a:lstStyle/>
          <a:p>
            <a:pPr rtl="0"/>
            <a:fld id="{94200668-9301-4F8B-89F3-A4E2AEA80049}" type="datetime3">
              <a:rPr lang="en-GB" noProof="0" smtClean="0">
                <a:latin typeface="+mn-lt"/>
              </a:rPr>
            </a:fld>
            <a:endParaRPr lang="en-GB" noProof="0" dirty="0">
              <a:latin typeface="+mn-lt"/>
            </a:endParaRPr>
          </a:p>
        </p:txBody>
      </p:sp>
      <p:sp>
        <p:nvSpPr>
          <p:cNvPr id="3" name="Footer Placeholder 2"/>
          <p:cNvSpPr>
            <a:spLocks noGrp="1"/>
          </p:cNvSpPr>
          <p:nvPr>
            <p:ph type="ftr" sz="quarter" idx="15"/>
          </p:nvPr>
        </p:nvSpPr>
        <p:spPr/>
        <p:txBody>
          <a:bodyPr rtlCol="0"/>
          <a:lstStyle/>
          <a:p>
            <a:pPr rtl="0"/>
            <a:r>
              <a:rPr lang="en-GB" noProof="0" dirty="0"/>
              <a:t>Annual Review</a:t>
            </a:r>
            <a:endParaRPr lang="en-GB" b="0" noProof="0" dirty="0"/>
          </a:p>
        </p:txBody>
      </p:sp>
      <p:sp>
        <p:nvSpPr>
          <p:cNvPr id="4" name="Slide Number Placeholder 3"/>
          <p:cNvSpPr>
            <a:spLocks noGrp="1"/>
          </p:cNvSpPr>
          <p:nvPr>
            <p:ph type="sldNum" sz="quarter" idx="16"/>
          </p:nvPr>
        </p:nvSpPr>
        <p:spPr/>
        <p:txBody>
          <a:bodyPr rtlCol="0"/>
          <a:lstStyle/>
          <a:p>
            <a:pPr rtl="0"/>
            <a:fld id="{294A09A9-5501-47C1-A89A-A340965A2BE2}" type="slidenum">
              <a:rPr lang="en-GB" noProof="0" smtClean="0"/>
            </a:fld>
            <a:endParaRPr lang="en-GB"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p:cNvSpPr>
            <a:spLocks noGrp="1"/>
          </p:cNvSpPr>
          <p:nvPr>
            <p:ph type="pic" sz="quarter" idx="13"/>
          </p:nvPr>
        </p:nvSpPr>
        <p:spPr>
          <a:xfrm>
            <a:off x="0" y="0"/>
            <a:ext cx="12191998" cy="6858000"/>
          </a:xfrm>
          <a:solidFill>
            <a:schemeClr val="accent2"/>
          </a:solidFill>
        </p:spPr>
        <p:txBody>
          <a:bodyPr rtlCol="0"/>
          <a:lstStyle/>
          <a:p>
            <a:pPr rtl="0"/>
            <a:r>
              <a:rPr lang="en-US" noProof="0"/>
              <a:t>Click icon to add picture</a:t>
            </a:r>
            <a:endParaRPr lang="en-GB" noProof="0" dirty="0"/>
          </a:p>
        </p:txBody>
      </p:sp>
      <p:sp>
        <p:nvSpPr>
          <p:cNvPr id="18" name="Title 1"/>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US" noProof="0"/>
              <a:t>Click to edit Master title style</a:t>
            </a:r>
            <a:endParaRPr lang="en-GB" noProof="0" dirty="0"/>
          </a:p>
        </p:txBody>
      </p:sp>
      <p:cxnSp>
        <p:nvCxnSpPr>
          <p:cNvPr id="20" name="Straight Connector 19"/>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p:cNvGrpSpPr/>
          <p:nvPr userDrawn="1"/>
        </p:nvGrpSpPr>
        <p:grpSpPr bwMode="auto">
          <a:xfrm rot="10800000">
            <a:off x="9509760" y="-3"/>
            <a:ext cx="2682238" cy="2682238"/>
            <a:chOff x="0" y="12289"/>
            <a:chExt cx="3550" cy="3551"/>
          </a:xfrm>
          <a:solidFill>
            <a:schemeClr val="tx1"/>
          </a:solidFill>
        </p:grpSpPr>
        <p:sp>
          <p:nvSpPr>
            <p:cNvPr id="23" name="Freeform 22"/>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24" name="Freeform 23"/>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25" name="Freeform 24"/>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p:cNvSpPr>
            <a:spLocks noGrp="1"/>
          </p:cNvSpPr>
          <p:nvPr>
            <p:ph type="chart" sz="quarter" idx="10" hasCustomPrompt="1"/>
          </p:nvPr>
        </p:nvSpPr>
        <p:spPr>
          <a:xfrm>
            <a:off x="952500" y="1939108"/>
            <a:ext cx="10352810" cy="4110702"/>
          </a:xfrm>
        </p:spPr>
        <p:txBody>
          <a:bodyPr rtlCol="0"/>
          <a:lstStyle>
            <a:lvl1pPr>
              <a:defRPr>
                <a:solidFill>
                  <a:schemeClr val="tx1"/>
                </a:solidFill>
              </a:defRPr>
            </a:lvl1pPr>
          </a:lstStyle>
          <a:p>
            <a:pPr rtl="0"/>
            <a:r>
              <a:rPr lang="en-US" noProof="0"/>
              <a:t>Click icon to add chart</a:t>
            </a:r>
            <a:endParaRPr lang="en-GB" noProof="0"/>
          </a:p>
        </p:txBody>
      </p:sp>
      <p:sp>
        <p:nvSpPr>
          <p:cNvPr id="16" name="Title 1"/>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sp>
        <p:nvSpPr>
          <p:cNvPr id="2" name="Date Placeholder 1"/>
          <p:cNvSpPr>
            <a:spLocks noGrp="1"/>
          </p:cNvSpPr>
          <p:nvPr>
            <p:ph type="dt" sz="half" idx="11"/>
          </p:nvPr>
        </p:nvSpPr>
        <p:spPr/>
        <p:txBody>
          <a:bodyPr rtlCol="0"/>
          <a:lstStyle/>
          <a:p>
            <a:pPr rtl="0"/>
            <a:fld id="{029ECAD1-3047-43DC-81B7-231597E81F19}" type="datetime3">
              <a:rPr lang="en-GB" noProof="0" smtClean="0">
                <a:latin typeface="+mn-lt"/>
              </a:rPr>
            </a:fld>
            <a:endParaRPr lang="en-GB" noProof="0">
              <a:latin typeface="+mn-lt"/>
            </a:endParaRPr>
          </a:p>
        </p:txBody>
      </p:sp>
      <p:sp>
        <p:nvSpPr>
          <p:cNvPr id="3" name="Footer Placeholder 2"/>
          <p:cNvSpPr>
            <a:spLocks noGrp="1"/>
          </p:cNvSpPr>
          <p:nvPr>
            <p:ph type="ftr" sz="quarter" idx="12"/>
          </p:nvPr>
        </p:nvSpPr>
        <p:spPr/>
        <p:txBody>
          <a:bodyPr rtlCol="0"/>
          <a:lstStyle/>
          <a:p>
            <a:pPr rtl="0"/>
            <a:r>
              <a:rPr lang="en-GB" noProof="0"/>
              <a:t>Annual Review</a:t>
            </a:r>
            <a:endParaRPr lang="en-GB" b="0" noProof="0"/>
          </a:p>
        </p:txBody>
      </p:sp>
      <p:sp>
        <p:nvSpPr>
          <p:cNvPr id="4" name="Slide Number Placeholder 3"/>
          <p:cNvSpPr>
            <a:spLocks noGrp="1"/>
          </p:cNvSpPr>
          <p:nvPr>
            <p:ph type="sldNum" sz="quarter" idx="13"/>
          </p:nvPr>
        </p:nvSpPr>
        <p:spPr/>
        <p:txBody>
          <a:bodyPr rtlCol="0"/>
          <a:lstStyle/>
          <a:p>
            <a:pPr rtl="0"/>
            <a:fld id="{294A09A9-5501-47C1-A89A-A340965A2BE2}" type="slidenum">
              <a:rPr lang="en-GB" noProof="0" smtClean="0"/>
            </a:fld>
            <a:endParaRPr lang="en-GB" noProof="0">
              <a:latin typeface="+mn-l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sp>
        <p:nvSpPr>
          <p:cNvPr id="9" name="Table Placeholder 2"/>
          <p:cNvSpPr>
            <a:spLocks noGrp="1"/>
          </p:cNvSpPr>
          <p:nvPr>
            <p:ph type="tbl" sz="quarter" idx="10" hasCustomPrompt="1"/>
          </p:nvPr>
        </p:nvSpPr>
        <p:spPr>
          <a:xfrm>
            <a:off x="952500" y="2209800"/>
            <a:ext cx="10287000" cy="2593109"/>
          </a:xfrm>
        </p:spPr>
        <p:txBody>
          <a:bodyPr rtlCol="0"/>
          <a:lstStyle/>
          <a:p>
            <a:pPr rtl="0"/>
            <a:r>
              <a:rPr lang="en-US" noProof="0"/>
              <a:t>Click icon to add table</a:t>
            </a:r>
            <a:endParaRPr lang="en-GB" noProof="0"/>
          </a:p>
        </p:txBody>
      </p:sp>
      <p:sp>
        <p:nvSpPr>
          <p:cNvPr id="2" name="Date Placeholder 1"/>
          <p:cNvSpPr>
            <a:spLocks noGrp="1"/>
          </p:cNvSpPr>
          <p:nvPr>
            <p:ph type="dt" sz="half" idx="11"/>
          </p:nvPr>
        </p:nvSpPr>
        <p:spPr/>
        <p:txBody>
          <a:bodyPr rtlCol="0"/>
          <a:lstStyle/>
          <a:p>
            <a:pPr rtl="0"/>
            <a:fld id="{1E6A16EE-7FBD-4E62-A186-69A1E1C8758D}" type="datetime3">
              <a:rPr lang="en-GB" noProof="0" smtClean="0">
                <a:latin typeface="+mn-lt"/>
              </a:rPr>
            </a:fld>
            <a:endParaRPr lang="en-GB" noProof="0">
              <a:latin typeface="+mn-lt"/>
            </a:endParaRPr>
          </a:p>
        </p:txBody>
      </p:sp>
      <p:sp>
        <p:nvSpPr>
          <p:cNvPr id="3" name="Footer Placeholder 2"/>
          <p:cNvSpPr>
            <a:spLocks noGrp="1"/>
          </p:cNvSpPr>
          <p:nvPr>
            <p:ph type="ftr" sz="quarter" idx="12"/>
          </p:nvPr>
        </p:nvSpPr>
        <p:spPr/>
        <p:txBody>
          <a:bodyPr rtlCol="0"/>
          <a:lstStyle/>
          <a:p>
            <a:pPr rtl="0"/>
            <a:r>
              <a:rPr lang="en-GB" noProof="0"/>
              <a:t>Annual Review</a:t>
            </a:r>
            <a:endParaRPr lang="en-GB" b="0" noProof="0"/>
          </a:p>
        </p:txBody>
      </p:sp>
      <p:sp>
        <p:nvSpPr>
          <p:cNvPr id="4" name="Slide Number Placeholder 3"/>
          <p:cNvSpPr>
            <a:spLocks noGrp="1"/>
          </p:cNvSpPr>
          <p:nvPr>
            <p:ph type="sldNum" sz="quarter" idx="13"/>
          </p:nvPr>
        </p:nvSpPr>
        <p:spPr/>
        <p:txBody>
          <a:bodyPr rtlCol="0"/>
          <a:lstStyle/>
          <a:p>
            <a:pPr rtl="0"/>
            <a:fld id="{294A09A9-5501-47C1-A89A-A340965A2BE2}" type="slidenum">
              <a:rPr lang="en-GB" noProof="0" smtClean="0"/>
            </a:fld>
            <a:endParaRPr lang="en-GB" noProof="0">
              <a:latin typeface="+mn-l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US" noProof="0"/>
              <a:t>Click to edit Master title style</a:t>
            </a:r>
            <a:endParaRPr lang="en-GB" noProof="0" dirty="0"/>
          </a:p>
        </p:txBody>
      </p:sp>
      <p:sp>
        <p:nvSpPr>
          <p:cNvPr id="10" name="TextBox 9"/>
          <p:cNvSpPr txBox="1"/>
          <p:nvPr userDrawn="1"/>
        </p:nvSpPr>
        <p:spPr>
          <a:xfrm>
            <a:off x="699948" y="548291"/>
            <a:ext cx="1589372" cy="3170099"/>
          </a:xfrm>
          <a:prstGeom prst="rect">
            <a:avLst/>
          </a:prstGeom>
          <a:noFill/>
        </p:spPr>
        <p:txBody>
          <a:bodyPr wrap="square" rtlCol="0">
            <a:spAutoFit/>
          </a:bodyPr>
          <a:lstStyle/>
          <a:p>
            <a:pPr rtl="0"/>
            <a:r>
              <a:rPr lang="en-GB" sz="20000" b="1" noProof="0" dirty="0">
                <a:solidFill>
                  <a:schemeClr val="bg1"/>
                </a:solidFill>
              </a:rPr>
              <a:t>“</a:t>
            </a:r>
            <a:endParaRPr lang="en-GB" sz="20000" b="1" noProof="0" dirty="0">
              <a:solidFill>
                <a:schemeClr val="bg1"/>
              </a:solidFill>
            </a:endParaRPr>
          </a:p>
        </p:txBody>
      </p:sp>
      <p:grpSp>
        <p:nvGrpSpPr>
          <p:cNvPr id="18" name="Group 17"/>
          <p:cNvGrpSpPr/>
          <p:nvPr userDrawn="1"/>
        </p:nvGrpSpPr>
        <p:grpSpPr>
          <a:xfrm>
            <a:off x="6362700" y="0"/>
            <a:ext cx="5829298" cy="3235602"/>
            <a:chOff x="5612972" y="1"/>
            <a:chExt cx="6615961" cy="3672246"/>
          </a:xfrm>
        </p:grpSpPr>
        <p:sp>
          <p:nvSpPr>
            <p:cNvPr id="19" name="AutoShape 24"/>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20" name="Freeform 19"/>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21" name="Freeform 20"/>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22" name="Freeform 21"/>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dirty="0"/>
            </a:p>
          </p:txBody>
        </p:sp>
        <p:sp>
          <p:nvSpPr>
            <p:cNvPr id="23" name="Freeform 22"/>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grpSp>
      <p:grpSp>
        <p:nvGrpSpPr>
          <p:cNvPr id="24" name="Group 23"/>
          <p:cNvGrpSpPr/>
          <p:nvPr userDrawn="1"/>
        </p:nvGrpSpPr>
        <p:grpSpPr bwMode="auto">
          <a:xfrm rot="16200000" flipV="1">
            <a:off x="0" y="3900132"/>
            <a:ext cx="2959226" cy="2959226"/>
            <a:chOff x="0" y="12289"/>
            <a:chExt cx="3550" cy="3551"/>
          </a:xfrm>
        </p:grpSpPr>
        <p:sp>
          <p:nvSpPr>
            <p:cNvPr id="25" name="Freeform 24"/>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26" name="Freeform 25"/>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27" name="Freeform 26"/>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grpSp>
    </p:spTree>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p:cNvGrpSpPr/>
          <p:nvPr userDrawn="1"/>
        </p:nvGrpSpPr>
        <p:grpSpPr bwMode="auto">
          <a:xfrm rot="16200000" flipV="1">
            <a:off x="0" y="3900132"/>
            <a:ext cx="2959226" cy="2959226"/>
            <a:chOff x="0" y="12289"/>
            <a:chExt cx="3550" cy="3551"/>
          </a:xfrm>
        </p:grpSpPr>
        <p:sp>
          <p:nvSpPr>
            <p:cNvPr id="26" name="Freeform 25"/>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27" name="Freeform 26"/>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36" name="Freeform 35"/>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grpSp>
      <p:sp>
        <p:nvSpPr>
          <p:cNvPr id="38" name="Picture Placeholder 25"/>
          <p:cNvSpPr>
            <a:spLocks noGrp="1"/>
          </p:cNvSpPr>
          <p:nvPr>
            <p:ph type="pic" sz="quarter" idx="18"/>
          </p:nvPr>
        </p:nvSpPr>
        <p:spPr>
          <a:xfrm>
            <a:off x="954268" y="2572883"/>
            <a:ext cx="2118245" cy="2037217"/>
          </a:xfrm>
          <a:prstGeom prst="rect">
            <a:avLst/>
          </a:prstGeom>
        </p:spPr>
        <p:txBody>
          <a:bodyPr rtlCol="0"/>
          <a:lstStyle/>
          <a:p>
            <a:pPr rtl="0"/>
            <a:r>
              <a:rPr lang="en-US" noProof="0"/>
              <a:t>Click icon to add picture</a:t>
            </a:r>
            <a:endParaRPr lang="en-GB" noProof="0" dirty="0"/>
          </a:p>
        </p:txBody>
      </p:sp>
      <p:sp>
        <p:nvSpPr>
          <p:cNvPr id="61" name="Title 1"/>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dirty="0"/>
          </a:p>
        </p:txBody>
      </p:sp>
      <p:cxnSp>
        <p:nvCxnSpPr>
          <p:cNvPr id="62" name="Straight Connector 61"/>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p:cNvSpPr>
            <a:spLocks noGrp="1"/>
          </p:cNvSpPr>
          <p:nvPr>
            <p:ph type="pic" sz="quarter" idx="24"/>
          </p:nvPr>
        </p:nvSpPr>
        <p:spPr>
          <a:xfrm>
            <a:off x="3658280" y="2572883"/>
            <a:ext cx="2118245" cy="2037217"/>
          </a:xfrm>
          <a:prstGeom prst="rect">
            <a:avLst/>
          </a:prstGeom>
        </p:spPr>
        <p:txBody>
          <a:bodyPr rtlCol="0"/>
          <a:lstStyle/>
          <a:p>
            <a:pPr rtl="0"/>
            <a:r>
              <a:rPr lang="en-US" noProof="0"/>
              <a:t>Click icon to add picture</a:t>
            </a:r>
            <a:endParaRPr lang="en-GB" noProof="0" dirty="0"/>
          </a:p>
        </p:txBody>
      </p:sp>
      <p:sp>
        <p:nvSpPr>
          <p:cNvPr id="72" name="Text Placeholder 29"/>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73" name="Text Placeholder 29"/>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74" name="Text Placeholder 29"/>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75" name="Text Placeholder 29"/>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76" name="Text Placeholder 29"/>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77" name="Text Placeholder 29"/>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78" name="Text Placeholder 29"/>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79" name="Text Placeholder 29"/>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grpSp>
        <p:nvGrpSpPr>
          <p:cNvPr id="23" name="Group 22"/>
          <p:cNvGrpSpPr/>
          <p:nvPr userDrawn="1"/>
        </p:nvGrpSpPr>
        <p:grpSpPr>
          <a:xfrm>
            <a:off x="6362700" y="0"/>
            <a:ext cx="5829298" cy="3235602"/>
            <a:chOff x="5612972" y="1"/>
            <a:chExt cx="6615961" cy="3672246"/>
          </a:xfrm>
        </p:grpSpPr>
        <p:sp>
          <p:nvSpPr>
            <p:cNvPr id="28" name="AutoShape 24"/>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29" name="Freeform 28"/>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30" name="Freeform 29"/>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31" name="Freeform 30"/>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dirty="0"/>
            </a:p>
          </p:txBody>
        </p:sp>
        <p:sp>
          <p:nvSpPr>
            <p:cNvPr id="32" name="Freeform 31"/>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grpSp>
      <p:sp>
        <p:nvSpPr>
          <p:cNvPr id="66" name="Picture Placeholder 25"/>
          <p:cNvSpPr>
            <a:spLocks noGrp="1"/>
          </p:cNvSpPr>
          <p:nvPr>
            <p:ph type="pic" sz="quarter" idx="27"/>
          </p:nvPr>
        </p:nvSpPr>
        <p:spPr>
          <a:xfrm>
            <a:off x="6362292" y="2572883"/>
            <a:ext cx="2118245" cy="2037217"/>
          </a:xfrm>
          <a:prstGeom prst="rect">
            <a:avLst/>
          </a:prstGeom>
        </p:spPr>
        <p:txBody>
          <a:bodyPr rtlCol="0"/>
          <a:lstStyle/>
          <a:p>
            <a:pPr rtl="0"/>
            <a:r>
              <a:rPr lang="en-US" noProof="0"/>
              <a:t>Click icon to add picture</a:t>
            </a:r>
            <a:endParaRPr lang="en-GB" noProof="0" dirty="0"/>
          </a:p>
        </p:txBody>
      </p:sp>
      <p:sp>
        <p:nvSpPr>
          <p:cNvPr id="69" name="Picture Placeholder 25"/>
          <p:cNvSpPr>
            <a:spLocks noGrp="1"/>
          </p:cNvSpPr>
          <p:nvPr>
            <p:ph type="pic" sz="quarter" idx="30"/>
          </p:nvPr>
        </p:nvSpPr>
        <p:spPr>
          <a:xfrm>
            <a:off x="9112023" y="2572883"/>
            <a:ext cx="2118245" cy="2037217"/>
          </a:xfrm>
          <a:prstGeom prst="rect">
            <a:avLst/>
          </a:prstGeom>
        </p:spPr>
        <p:txBody>
          <a:bodyPr rtlCol="0"/>
          <a:lstStyle/>
          <a:p>
            <a:pPr rtl="0"/>
            <a:r>
              <a:rPr lang="en-US" noProof="0"/>
              <a:t>Click icon to add picture</a:t>
            </a:r>
            <a:endParaRPr lang="en-GB" noProof="0" dirty="0"/>
          </a:p>
        </p:txBody>
      </p:sp>
      <p:sp>
        <p:nvSpPr>
          <p:cNvPr id="2" name="Date Placeholder 1"/>
          <p:cNvSpPr>
            <a:spLocks noGrp="1"/>
          </p:cNvSpPr>
          <p:nvPr>
            <p:ph type="dt" sz="half" idx="32"/>
          </p:nvPr>
        </p:nvSpPr>
        <p:spPr/>
        <p:txBody>
          <a:bodyPr rtlCol="0"/>
          <a:lstStyle/>
          <a:p>
            <a:pPr rtl="0"/>
            <a:fld id="{D21FA074-9295-430E-9633-F682F8C96958}" type="datetime3">
              <a:rPr lang="en-GB" noProof="0" smtClean="0">
                <a:latin typeface="+mn-lt"/>
              </a:rPr>
            </a:fld>
            <a:endParaRPr lang="en-GB" noProof="0" dirty="0">
              <a:latin typeface="+mn-lt"/>
            </a:endParaRPr>
          </a:p>
        </p:txBody>
      </p:sp>
      <p:sp>
        <p:nvSpPr>
          <p:cNvPr id="3" name="Footer Placeholder 2"/>
          <p:cNvSpPr>
            <a:spLocks noGrp="1"/>
          </p:cNvSpPr>
          <p:nvPr>
            <p:ph type="ftr" sz="quarter" idx="33"/>
          </p:nvPr>
        </p:nvSpPr>
        <p:spPr/>
        <p:txBody>
          <a:bodyPr rtlCol="0"/>
          <a:lstStyle/>
          <a:p>
            <a:pPr rtl="0"/>
            <a:r>
              <a:rPr lang="en-GB" noProof="0" dirty="0"/>
              <a:t>Annual Review</a:t>
            </a:r>
            <a:endParaRPr lang="en-GB" b="0" noProof="0" dirty="0"/>
          </a:p>
        </p:txBody>
      </p:sp>
      <p:sp>
        <p:nvSpPr>
          <p:cNvPr id="4" name="Slide Number Placeholder 3"/>
          <p:cNvSpPr>
            <a:spLocks noGrp="1"/>
          </p:cNvSpPr>
          <p:nvPr>
            <p:ph type="sldNum" sz="quarter" idx="34"/>
          </p:nvPr>
        </p:nvSpPr>
        <p:spPr/>
        <p:txBody>
          <a:bodyPr rtlCol="0"/>
          <a:lstStyle/>
          <a:p>
            <a:pPr rtl="0"/>
            <a:fld id="{294A09A9-5501-47C1-A89A-A340965A2BE2}" type="slidenum">
              <a:rPr lang="en-GB" noProof="0" smtClean="0"/>
            </a:fld>
            <a:endParaRPr lang="en-GB" noProof="0" dirty="0"/>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sp>
        <p:nvSpPr>
          <p:cNvPr id="96" name="Text Placeholder 29"/>
          <p:cNvSpPr>
            <a:spLocks noGrp="1"/>
          </p:cNvSpPr>
          <p:nvPr>
            <p:ph type="body" sz="quarter" idx="12"/>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97" name="Text Placeholder 29"/>
          <p:cNvSpPr>
            <a:spLocks noGrp="1"/>
          </p:cNvSpPr>
          <p:nvPr>
            <p:ph type="body" sz="quarter" idx="1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102" name="Text Placeholder 29"/>
          <p:cNvSpPr>
            <a:spLocks noGrp="1"/>
          </p:cNvSpPr>
          <p:nvPr>
            <p:ph type="body" sz="quarter" idx="30"/>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103" name="Text Placeholder 29"/>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n-US" noProof="0"/>
              <a:t>Click to edit Master text styles</a:t>
            </a:r>
            <a:endParaRPr lang="en-US" noProof="0"/>
          </a:p>
        </p:txBody>
      </p:sp>
      <p:sp>
        <p:nvSpPr>
          <p:cNvPr id="106" name="Text Placeholder 29"/>
          <p:cNvSpPr>
            <a:spLocks noGrp="1"/>
          </p:cNvSpPr>
          <p:nvPr>
            <p:ph type="body" sz="quarter" idx="32"/>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107" name="Text Placeholder 29"/>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n-US" noProof="0"/>
              <a:t>Click to edit Master text styles</a:t>
            </a:r>
            <a:endParaRPr lang="en-US" noProof="0"/>
          </a:p>
        </p:txBody>
      </p:sp>
      <p:sp>
        <p:nvSpPr>
          <p:cNvPr id="108" name="Text Placeholder 29"/>
          <p:cNvSpPr>
            <a:spLocks noGrp="1"/>
          </p:cNvSpPr>
          <p:nvPr>
            <p:ph type="body" sz="quarter" idx="34"/>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109" name="Text Placeholder 29"/>
          <p:cNvSpPr>
            <a:spLocks noGrp="1"/>
          </p:cNvSpPr>
          <p:nvPr>
            <p:ph type="body" sz="quarter" idx="35"/>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cxnSp>
        <p:nvCxnSpPr>
          <p:cNvPr id="8" name="Straight Connector 7"/>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7" name="Rectangle 46"/>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7" name="Rectangle 26"/>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9" name="Rectangle 28"/>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Date Placeholder 1"/>
          <p:cNvSpPr>
            <a:spLocks noGrp="1"/>
          </p:cNvSpPr>
          <p:nvPr>
            <p:ph type="dt" sz="half" idx="36"/>
          </p:nvPr>
        </p:nvSpPr>
        <p:spPr/>
        <p:txBody>
          <a:bodyPr rtlCol="0"/>
          <a:lstStyle/>
          <a:p>
            <a:pPr rtl="0"/>
            <a:fld id="{D33AD83D-9671-4762-AF03-9C719A9CD695}" type="datetime3">
              <a:rPr lang="en-GB" noProof="0" smtClean="0">
                <a:latin typeface="+mn-lt"/>
              </a:rPr>
            </a:fld>
            <a:endParaRPr lang="en-GB" noProof="0">
              <a:latin typeface="+mn-lt"/>
            </a:endParaRPr>
          </a:p>
        </p:txBody>
      </p:sp>
      <p:sp>
        <p:nvSpPr>
          <p:cNvPr id="3" name="Footer Placeholder 2"/>
          <p:cNvSpPr>
            <a:spLocks noGrp="1"/>
          </p:cNvSpPr>
          <p:nvPr>
            <p:ph type="ftr" sz="quarter" idx="37"/>
          </p:nvPr>
        </p:nvSpPr>
        <p:spPr/>
        <p:txBody>
          <a:bodyPr rtlCol="0"/>
          <a:lstStyle/>
          <a:p>
            <a:pPr rtl="0"/>
            <a:r>
              <a:rPr lang="en-GB" noProof="0"/>
              <a:t>Annual Review</a:t>
            </a:r>
            <a:endParaRPr lang="en-GB" b="0" noProof="0"/>
          </a:p>
        </p:txBody>
      </p:sp>
      <p:sp>
        <p:nvSpPr>
          <p:cNvPr id="4" name="Slide Number Placeholder 3"/>
          <p:cNvSpPr>
            <a:spLocks noGrp="1"/>
          </p:cNvSpPr>
          <p:nvPr>
            <p:ph type="sldNum" sz="quarter" idx="38"/>
          </p:nvPr>
        </p:nvSpPr>
        <p:spPr/>
        <p:txBody>
          <a:bodyPr rtlCol="0"/>
          <a:lstStyle/>
          <a:p>
            <a:pPr rtl="0"/>
            <a:fld id="{294A09A9-5501-47C1-A89A-A340965A2BE2}" type="slidenum">
              <a:rPr lang="en-GB" noProof="0" smtClean="0"/>
            </a:fld>
            <a:endParaRPr lang="en-GB" noProof="0">
              <a:latin typeface="+mn-lt"/>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p:cNvGrpSpPr/>
          <p:nvPr userDrawn="1"/>
        </p:nvGrpSpPr>
        <p:grpSpPr bwMode="auto">
          <a:xfrm rot="16200000" flipV="1">
            <a:off x="0" y="3900132"/>
            <a:ext cx="2959226" cy="2959226"/>
            <a:chOff x="0" y="12289"/>
            <a:chExt cx="3550" cy="3551"/>
          </a:xfrm>
        </p:grpSpPr>
        <p:sp>
          <p:nvSpPr>
            <p:cNvPr id="20" name="Freeform 19"/>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21" name="Freeform 20"/>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22" name="Freeform 21"/>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grpSp>
      <p:sp>
        <p:nvSpPr>
          <p:cNvPr id="32" name="Title 1"/>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33" name="Straight Connector 32"/>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endParaRPr lang="en-US" noProof="0"/>
          </a:p>
        </p:txBody>
      </p:sp>
      <p:sp>
        <p:nvSpPr>
          <p:cNvPr id="25" name="Text Placeholder 2"/>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endParaRPr lang="en-US" noProof="0"/>
          </a:p>
        </p:txBody>
      </p:sp>
      <p:sp>
        <p:nvSpPr>
          <p:cNvPr id="27" name="Content Placeholder 3"/>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anose="05000000000000000000"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endParaRPr lang="en-US" noProof="0"/>
          </a:p>
        </p:txBody>
      </p:sp>
      <p:sp>
        <p:nvSpPr>
          <p:cNvPr id="28" name="Content Placeholder 3"/>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anose="05000000000000000000"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endParaRPr lang="en-US" noProof="0"/>
          </a:p>
        </p:txBody>
      </p:sp>
      <p:cxnSp>
        <p:nvCxnSpPr>
          <p:cNvPr id="15" name="Straight Connector 14"/>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p:cNvSpPr>
            <a:spLocks noGrp="1"/>
          </p:cNvSpPr>
          <p:nvPr>
            <p:ph type="dt" sz="half" idx="14"/>
          </p:nvPr>
        </p:nvSpPr>
        <p:spPr/>
        <p:txBody>
          <a:bodyPr rtlCol="0"/>
          <a:lstStyle/>
          <a:p>
            <a:pPr rtl="0"/>
            <a:fld id="{F88F5F63-8808-4375-85CE-D0FAFA3BBE65}" type="datetime3">
              <a:rPr lang="en-GB" noProof="0" smtClean="0">
                <a:latin typeface="+mn-lt"/>
              </a:rPr>
            </a:fld>
            <a:endParaRPr lang="en-GB" noProof="0" dirty="0">
              <a:latin typeface="+mn-lt"/>
            </a:endParaRPr>
          </a:p>
        </p:txBody>
      </p:sp>
      <p:sp>
        <p:nvSpPr>
          <p:cNvPr id="3" name="Footer Placeholder 2"/>
          <p:cNvSpPr>
            <a:spLocks noGrp="1"/>
          </p:cNvSpPr>
          <p:nvPr>
            <p:ph type="ftr" sz="quarter" idx="15"/>
          </p:nvPr>
        </p:nvSpPr>
        <p:spPr/>
        <p:txBody>
          <a:bodyPr rtlCol="0"/>
          <a:lstStyle/>
          <a:p>
            <a:pPr rtl="0"/>
            <a:r>
              <a:rPr lang="en-GB" noProof="0" dirty="0"/>
              <a:t>Annual Review</a:t>
            </a:r>
            <a:endParaRPr lang="en-GB" b="0" noProof="0" dirty="0"/>
          </a:p>
        </p:txBody>
      </p:sp>
      <p:sp>
        <p:nvSpPr>
          <p:cNvPr id="4" name="Slide Number Placeholder 3"/>
          <p:cNvSpPr>
            <a:spLocks noGrp="1"/>
          </p:cNvSpPr>
          <p:nvPr>
            <p:ph type="sldNum" sz="quarter" idx="16"/>
          </p:nvPr>
        </p:nvSpPr>
        <p:spPr/>
        <p:txBody>
          <a:bodyPr rtlCol="0"/>
          <a:lstStyle/>
          <a:p>
            <a:pPr rtl="0"/>
            <a:fld id="{294A09A9-5501-47C1-A89A-A340965A2BE2}" type="slidenum">
              <a:rPr lang="en-GB" noProof="0" smtClean="0"/>
            </a:fld>
            <a:endParaRPr lang="en-GB" noProof="0" dirty="0"/>
          </a:p>
        </p:txBody>
      </p:sp>
    </p:spTree>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p:cNvGrpSpPr/>
          <p:nvPr userDrawn="1"/>
        </p:nvGrpSpPr>
        <p:grpSpPr bwMode="auto">
          <a:xfrm rot="16200000" flipV="1">
            <a:off x="0" y="3900132"/>
            <a:ext cx="2959226" cy="2959226"/>
            <a:chOff x="0" y="12289"/>
            <a:chExt cx="3550" cy="3551"/>
          </a:xfrm>
        </p:grpSpPr>
        <p:sp>
          <p:nvSpPr>
            <p:cNvPr id="38" name="Freeform 37"/>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39" name="Freeform 38"/>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40" name="Freeform 39"/>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grpSp>
      <p:sp>
        <p:nvSpPr>
          <p:cNvPr id="32" name="Title 1"/>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33" name="Straight Connector 32"/>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endParaRPr lang="en-US" noProof="0"/>
          </a:p>
        </p:txBody>
      </p:sp>
      <p:sp>
        <p:nvSpPr>
          <p:cNvPr id="27" name="Content Placeholder 3"/>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anose="05000000000000000000"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endParaRPr lang="en-US" noProof="0"/>
          </a:p>
        </p:txBody>
      </p:sp>
      <p:sp>
        <p:nvSpPr>
          <p:cNvPr id="20" name="Text Placeholder 2"/>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endParaRPr lang="en-US" noProof="0"/>
          </a:p>
        </p:txBody>
      </p:sp>
      <p:sp>
        <p:nvSpPr>
          <p:cNvPr id="21" name="Content Placeholder 3"/>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anose="05000000000000000000"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endParaRPr lang="en-US" noProof="0"/>
          </a:p>
        </p:txBody>
      </p:sp>
      <p:sp>
        <p:nvSpPr>
          <p:cNvPr id="22" name="Text Placeholder 2"/>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endParaRPr lang="en-US" noProof="0"/>
          </a:p>
        </p:txBody>
      </p:sp>
      <p:sp>
        <p:nvSpPr>
          <p:cNvPr id="24" name="Content Placeholder 3"/>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anose="05000000000000000000"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endParaRPr lang="en-US" noProof="0"/>
          </a:p>
        </p:txBody>
      </p:sp>
      <p:cxnSp>
        <p:nvCxnSpPr>
          <p:cNvPr id="26" name="Straight Connector 25"/>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p:cNvSpPr>
            <a:spLocks noGrp="1"/>
          </p:cNvSpPr>
          <p:nvPr>
            <p:ph type="dt" sz="half" idx="14"/>
          </p:nvPr>
        </p:nvSpPr>
        <p:spPr/>
        <p:txBody>
          <a:bodyPr rtlCol="0"/>
          <a:lstStyle/>
          <a:p>
            <a:pPr rtl="0"/>
            <a:fld id="{6D17C7AE-DC41-4D6E-8CE7-A0296D62536F}" type="datetime3">
              <a:rPr lang="en-GB" noProof="0" smtClean="0">
                <a:latin typeface="+mn-lt"/>
              </a:rPr>
            </a:fld>
            <a:endParaRPr lang="en-GB" noProof="0" dirty="0">
              <a:latin typeface="+mn-lt"/>
            </a:endParaRPr>
          </a:p>
        </p:txBody>
      </p:sp>
      <p:sp>
        <p:nvSpPr>
          <p:cNvPr id="3" name="Footer Placeholder 2"/>
          <p:cNvSpPr>
            <a:spLocks noGrp="1"/>
          </p:cNvSpPr>
          <p:nvPr>
            <p:ph type="ftr" sz="quarter" idx="15"/>
          </p:nvPr>
        </p:nvSpPr>
        <p:spPr/>
        <p:txBody>
          <a:bodyPr rtlCol="0"/>
          <a:lstStyle/>
          <a:p>
            <a:pPr rtl="0"/>
            <a:r>
              <a:rPr lang="en-GB" noProof="0" dirty="0"/>
              <a:t>Annual Review</a:t>
            </a:r>
            <a:endParaRPr lang="en-GB" b="0" noProof="0" dirty="0"/>
          </a:p>
        </p:txBody>
      </p:sp>
      <p:sp>
        <p:nvSpPr>
          <p:cNvPr id="4" name="Slide Number Placeholder 3"/>
          <p:cNvSpPr>
            <a:spLocks noGrp="1"/>
          </p:cNvSpPr>
          <p:nvPr>
            <p:ph type="sldNum" sz="quarter" idx="16"/>
          </p:nvPr>
        </p:nvSpPr>
        <p:spPr/>
        <p:txBody>
          <a:bodyPr rtlCol="0"/>
          <a:lstStyle/>
          <a:p>
            <a:pPr rtl="0"/>
            <a:fld id="{294A09A9-5501-47C1-A89A-A340965A2BE2}" type="slidenum">
              <a:rPr lang="en-GB" noProof="0" smtClean="0"/>
            </a:fld>
            <a:endParaRPr lang="en-GB" noProof="0" dirty="0"/>
          </a:p>
        </p:txBody>
      </p:sp>
    </p:spTree>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33" name="Straight Connector 32"/>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US" noProof="0"/>
              <a:t>Click to edit Master text styles</a:t>
            </a:r>
            <a:endParaRPr lang="en-US" noProof="0"/>
          </a:p>
        </p:txBody>
      </p:sp>
      <p:grpSp>
        <p:nvGrpSpPr>
          <p:cNvPr id="15" name="Group 14"/>
          <p:cNvGrpSpPr/>
          <p:nvPr userDrawn="1"/>
        </p:nvGrpSpPr>
        <p:grpSpPr bwMode="auto">
          <a:xfrm rot="10800000">
            <a:off x="8870040" y="0"/>
            <a:ext cx="3325208" cy="3325208"/>
            <a:chOff x="0" y="12289"/>
            <a:chExt cx="3550" cy="3551"/>
          </a:xfrm>
        </p:grpSpPr>
        <p:sp>
          <p:nvSpPr>
            <p:cNvPr id="16" name="Freeform 15"/>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17" name="Freeform 16"/>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18" name="Freeform 17"/>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grpSp>
      <p:sp>
        <p:nvSpPr>
          <p:cNvPr id="4" name="Text Placeholder 3"/>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endParaRPr lang="en-US" noProof="0"/>
          </a:p>
        </p:txBody>
      </p:sp>
      <p:sp>
        <p:nvSpPr>
          <p:cNvPr id="21" name="Text Placeholder 2"/>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US" noProof="0"/>
              <a:t>Click to edit Master text styles</a:t>
            </a:r>
            <a:endParaRPr lang="en-US" noProof="0"/>
          </a:p>
        </p:txBody>
      </p:sp>
      <p:sp>
        <p:nvSpPr>
          <p:cNvPr id="22" name="Text Placeholder 3"/>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endParaRPr lang="en-US" noProof="0"/>
          </a:p>
        </p:txBody>
      </p:sp>
      <p:sp>
        <p:nvSpPr>
          <p:cNvPr id="23" name="Text Placeholder 2"/>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US" noProof="0"/>
              <a:t>Click to edit Master text styles</a:t>
            </a:r>
            <a:endParaRPr lang="en-US" noProof="0"/>
          </a:p>
        </p:txBody>
      </p:sp>
      <p:sp>
        <p:nvSpPr>
          <p:cNvPr id="24" name="Text Placeholder 3"/>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endParaRPr lang="en-US" noProof="0"/>
          </a:p>
        </p:txBody>
      </p:sp>
      <p:sp>
        <p:nvSpPr>
          <p:cNvPr id="25" name="Text Placeholder 2"/>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US" noProof="0"/>
              <a:t>Click to edit Master text styles</a:t>
            </a:r>
            <a:endParaRPr lang="en-US" noProof="0"/>
          </a:p>
        </p:txBody>
      </p:sp>
      <p:sp>
        <p:nvSpPr>
          <p:cNvPr id="26" name="Text Placeholder 3"/>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endParaRPr lang="en-US" noProof="0"/>
          </a:p>
        </p:txBody>
      </p:sp>
      <p:sp>
        <p:nvSpPr>
          <p:cNvPr id="27" name="Text Placeholder 2"/>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US" noProof="0"/>
              <a:t>Click to edit Master text styles</a:t>
            </a:r>
            <a:endParaRPr lang="en-US" noProof="0"/>
          </a:p>
        </p:txBody>
      </p:sp>
      <p:sp>
        <p:nvSpPr>
          <p:cNvPr id="28" name="Text Placeholder 3"/>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endParaRPr lang="en-US" noProof="0"/>
          </a:p>
        </p:txBody>
      </p:sp>
      <p:sp>
        <p:nvSpPr>
          <p:cNvPr id="2" name="Date Placeholder 1"/>
          <p:cNvSpPr>
            <a:spLocks noGrp="1"/>
          </p:cNvSpPr>
          <p:nvPr>
            <p:ph type="dt" sz="half" idx="21"/>
          </p:nvPr>
        </p:nvSpPr>
        <p:spPr/>
        <p:txBody>
          <a:bodyPr rtlCol="0"/>
          <a:lstStyle/>
          <a:p>
            <a:pPr rtl="0"/>
            <a:fld id="{0971D3F5-C297-4F98-9679-48877DEF0EC7}" type="datetime3">
              <a:rPr lang="en-GB" noProof="0" smtClean="0">
                <a:latin typeface="+mn-lt"/>
              </a:rPr>
            </a:fld>
            <a:endParaRPr lang="en-GB" noProof="0" dirty="0">
              <a:latin typeface="+mn-lt"/>
            </a:endParaRPr>
          </a:p>
        </p:txBody>
      </p:sp>
      <p:sp>
        <p:nvSpPr>
          <p:cNvPr id="5" name="Footer Placeholder 4"/>
          <p:cNvSpPr>
            <a:spLocks noGrp="1"/>
          </p:cNvSpPr>
          <p:nvPr>
            <p:ph type="ftr" sz="quarter" idx="22"/>
          </p:nvPr>
        </p:nvSpPr>
        <p:spPr/>
        <p:txBody>
          <a:bodyPr rtlCol="0"/>
          <a:lstStyle/>
          <a:p>
            <a:pPr rtl="0"/>
            <a:r>
              <a:rPr lang="en-GB" noProof="0" dirty="0"/>
              <a:t>Annual Review</a:t>
            </a:r>
            <a:endParaRPr lang="en-GB" b="0" noProof="0" dirty="0"/>
          </a:p>
        </p:txBody>
      </p:sp>
      <p:sp>
        <p:nvSpPr>
          <p:cNvPr id="6" name="Slide Number Placeholder 5"/>
          <p:cNvSpPr>
            <a:spLocks noGrp="1"/>
          </p:cNvSpPr>
          <p:nvPr>
            <p:ph type="sldNum" sz="quarter" idx="23"/>
          </p:nvPr>
        </p:nvSpPr>
        <p:spPr/>
        <p:txBody>
          <a:bodyPr rtlCol="0"/>
          <a:lstStyle/>
          <a:p>
            <a:pPr rtl="0"/>
            <a:fld id="{294A09A9-5501-47C1-A89A-A340965A2BE2}" type="slidenum">
              <a:rPr lang="en-GB" noProof="0" smtClean="0"/>
            </a:fld>
            <a:endParaRPr lang="en-GB" noProof="0" dirty="0"/>
          </a:p>
        </p:txBody>
      </p:sp>
    </p:spTree>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endParaRPr lang="en-US" noProof="0"/>
          </a:p>
        </p:txBody>
      </p:sp>
      <p:sp>
        <p:nvSpPr>
          <p:cNvPr id="17" name="Subtitle 2"/>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dirty="0"/>
          </a:p>
        </p:txBody>
      </p:sp>
      <p:sp>
        <p:nvSpPr>
          <p:cNvPr id="26" name="Title 1"/>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27" name="Straight Connector 26"/>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p:cNvSpPr>
            <a:spLocks noGrp="1"/>
          </p:cNvSpPr>
          <p:nvPr>
            <p:ph type="pic" sz="quarter" idx="13"/>
          </p:nvPr>
        </p:nvSpPr>
        <p:spPr>
          <a:xfrm>
            <a:off x="0" y="0"/>
            <a:ext cx="6096000" cy="6858000"/>
          </a:xfrm>
        </p:spPr>
        <p:txBody>
          <a:bodyPr rtlCol="0"/>
          <a:lstStyle/>
          <a:p>
            <a:pPr rtl="0"/>
            <a:r>
              <a:rPr lang="en-US" noProof="0"/>
              <a:t>Click icon to add picture</a:t>
            </a:r>
            <a:endParaRPr lang="en-GB" noProof="0" dirty="0"/>
          </a:p>
        </p:txBody>
      </p:sp>
      <p:grpSp>
        <p:nvGrpSpPr>
          <p:cNvPr id="30" name="Group 29"/>
          <p:cNvGrpSpPr/>
          <p:nvPr userDrawn="1"/>
        </p:nvGrpSpPr>
        <p:grpSpPr bwMode="auto">
          <a:xfrm rot="10800000">
            <a:off x="8870040" y="0"/>
            <a:ext cx="3325208" cy="3325208"/>
            <a:chOff x="0" y="12289"/>
            <a:chExt cx="3550" cy="3551"/>
          </a:xfrm>
        </p:grpSpPr>
        <p:sp>
          <p:nvSpPr>
            <p:cNvPr id="31" name="Freeform 30"/>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32" name="Freeform 31"/>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sp>
          <p:nvSpPr>
            <p:cNvPr id="33" name="Freeform 32"/>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rot="0" vert="horz" wrap="square" lIns="91440" tIns="45720" rIns="91440" bIns="45720" rtlCol="0" anchor="t" anchorCtr="0" upright="1">
              <a:noAutofit/>
            </a:bodyPr>
            <a:lstStyle/>
            <a:p>
              <a:pPr rtl="0"/>
              <a:endParaRPr lang="en-GB" noProof="0" dirty="0"/>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CACFF12-D26C-453A-AA57-66631ACEB51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2060EF-1B72-44A2-94F7-3D29E2BC39BD}"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CACFF12-D26C-453A-AA57-66631ACEB51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2060EF-1B72-44A2-94F7-3D29E2BC39BD}"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fld id="{AA0BFE6B-2355-47D9-8875-DEFCA41B7736}" type="datetimeFigureOut">
              <a:rPr lang="en-IN"/>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9F08241E-4414-4E26-A21C-BC896DB88D95}" type="slidenum">
              <a:rPr lang="en-IN"/>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F64611B6-A16B-496A-B80C-FFA3BCC743E3}" type="datetimeFigureOut">
              <a:rPr lang="en-IN"/>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E768A8DE-78F2-4D2A-A241-F2A7F1E1DA12}" type="slidenum">
              <a:rPr lang="en-IN"/>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2E2828E-4FA6-41A2-9AD5-53D869BE7151}" type="datetimeFigureOut">
              <a:rPr lang="en-IN"/>
            </a:fld>
            <a:endParaRPr lang="en-IN"/>
          </a:p>
        </p:txBody>
      </p:sp>
      <p:sp>
        <p:nvSpPr>
          <p:cNvPr id="3" name="Footer Placeholder 4"/>
          <p:cNvSpPr>
            <a:spLocks noGrp="1"/>
          </p:cNvSpPr>
          <p:nvPr>
            <p:ph type="ftr" sz="quarter" idx="11"/>
          </p:nvPr>
        </p:nvSpPr>
        <p:spPr/>
        <p:txBody>
          <a:bodyPr/>
          <a:lstStyle>
            <a:lvl1pPr>
              <a:defRPr/>
            </a:lvl1pPr>
          </a:lstStyle>
          <a:p>
            <a:pPr>
              <a:defRPr/>
            </a:pPr>
            <a:endParaRPr lang="en-IN"/>
          </a:p>
        </p:txBody>
      </p:sp>
      <p:sp>
        <p:nvSpPr>
          <p:cNvPr id="4" name="Slide Number Placeholder 5"/>
          <p:cNvSpPr>
            <a:spLocks noGrp="1"/>
          </p:cNvSpPr>
          <p:nvPr>
            <p:ph type="sldNum" sz="quarter" idx="12"/>
          </p:nvPr>
        </p:nvSpPr>
        <p:spPr/>
        <p:txBody>
          <a:bodyPr/>
          <a:lstStyle>
            <a:lvl1pPr>
              <a:defRPr/>
            </a:lvl1pPr>
          </a:lstStyle>
          <a:p>
            <a:pPr>
              <a:defRPr/>
            </a:pPr>
            <a:fld id="{6CABB127-2227-4EA1-A56F-B737C4EBFAFD}"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n-GB" noProof="0"/>
              <a:t>Click to edit Master text styles</a:t>
            </a:r>
            <a:endParaRPr lang="en-GB" noProof="0"/>
          </a:p>
          <a:p>
            <a:pPr lvl="1" rtl="0"/>
            <a:r>
              <a:rPr lang="en-GB" noProof="0"/>
              <a:t>Second level</a:t>
            </a:r>
            <a:endParaRPr lang="en-GB" noProof="0"/>
          </a:p>
          <a:p>
            <a:pPr lvl="2" rtl="0"/>
            <a:r>
              <a:rPr lang="en-GB" noProof="0"/>
              <a:t>Third level</a:t>
            </a:r>
            <a:endParaRPr lang="en-GB" noProof="0"/>
          </a:p>
          <a:p>
            <a:pPr lvl="3" rtl="0"/>
            <a:r>
              <a:rPr lang="en-GB" noProof="0"/>
              <a:t>Quarter level</a:t>
            </a:r>
            <a:endParaRPr lang="en-GB" noProof="0"/>
          </a:p>
          <a:p>
            <a:pPr lvl="4" rtl="0"/>
            <a:r>
              <a:rPr lang="en-GB" noProof="0"/>
              <a:t>Fifth level</a:t>
            </a:r>
            <a:endParaRPr lang="en-GB" noProof="0"/>
          </a:p>
        </p:txBody>
      </p:sp>
      <p:sp>
        <p:nvSpPr>
          <p:cNvPr id="12" name="Title Placeholder 11"/>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0" name="Date Placeholder 3"/>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8AC5E797-DDC7-4716-ABC9-2C172A510C23}" type="datetime3">
              <a:rPr lang="en-GB" noProof="0" smtClean="0">
                <a:latin typeface="+mn-lt"/>
              </a:rPr>
            </a:fld>
            <a:endParaRPr lang="en-GB" noProof="0">
              <a:latin typeface="+mn-lt"/>
            </a:endParaRPr>
          </a:p>
        </p:txBody>
      </p:sp>
      <p:sp>
        <p:nvSpPr>
          <p:cNvPr id="31" name="Footer Placeholder 4"/>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n-GB" noProof="0"/>
              <a:t>Annual Review</a:t>
            </a:r>
            <a:endParaRPr lang="en-GB" b="0" noProof="0"/>
          </a:p>
        </p:txBody>
      </p:sp>
      <p:sp>
        <p:nvSpPr>
          <p:cNvPr id="32" name="Slide Number Placeholder 5"/>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n-GB" noProof="0" smtClean="0"/>
            </a:fld>
            <a:endParaRPr lang="en-GB" noProof="0">
              <a:latin typeface="+mn-lt"/>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15.xml"/><Relationship Id="rId7" Type="http://schemas.microsoft.com/office/2007/relationships/hdphoto" Target="../media/image7.wdp"/><Relationship Id="rId6" Type="http://schemas.openxmlformats.org/officeDocument/2006/relationships/image" Target="../media/image6.png"/><Relationship Id="rId5" Type="http://schemas.microsoft.com/office/2007/relationships/hdphoto" Target="../media/image5.wdp"/><Relationship Id="rId4" Type="http://schemas.openxmlformats.org/officeDocument/2006/relationships/image" Target="../media/image4.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microsoft.com/office/2007/relationships/hdphoto" Target="../media/image9.wdp"/><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chart" Target="../charts/chart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chart" Target="../charts/chart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microsoft.com/office/2007/relationships/hdphoto" Target="../media/image18.wdp"/><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microsoft.com/office/2007/relationships/hdphoto" Target="../media/image20.wdp"/><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microsoft.com/office/2007/relationships/hdphoto" Target="../media/image25.wdp"/><Relationship Id="rId3" Type="http://schemas.openxmlformats.org/officeDocument/2006/relationships/image" Target="../media/image24.png"/><Relationship Id="rId2" Type="http://schemas.microsoft.com/office/2007/relationships/hdphoto" Target="../media/image23.wdp"/><Relationship Id="rId1" Type="http://schemas.openxmlformats.org/officeDocument/2006/relationships/image" Target="../media/image22.pn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microsoft.com/office/2007/relationships/hdphoto" Target="../media/image30.wdp"/><Relationship Id="rId4" Type="http://schemas.openxmlformats.org/officeDocument/2006/relationships/image" Target="../media/image29.png"/><Relationship Id="rId3" Type="http://schemas.openxmlformats.org/officeDocument/2006/relationships/image" Target="../media/image28.png"/><Relationship Id="rId2" Type="http://schemas.microsoft.com/office/2007/relationships/hdphoto" Target="../media/image27.wdp"/><Relationship Id="rId1"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31.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image" Target="../media/image3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31671" y="714102"/>
            <a:ext cx="5491571" cy="1514019"/>
          </a:xfrm>
        </p:spPr>
        <p:txBody>
          <a:bodyPr rtlCol="0"/>
          <a:lstStyle/>
          <a:p>
            <a:pPr rtl="0"/>
            <a:r>
              <a:rPr lang="en-US" dirty="0"/>
              <a:t>Crowd funding </a:t>
            </a:r>
            <a:endParaRPr lang="en-GB" dirty="0"/>
          </a:p>
        </p:txBody>
      </p:sp>
      <p:sp>
        <p:nvSpPr>
          <p:cNvPr id="3" name="Text Placeholder 2"/>
          <p:cNvSpPr>
            <a:spLocks noGrp="1"/>
          </p:cNvSpPr>
          <p:nvPr>
            <p:ph type="body" sz="quarter" idx="11"/>
          </p:nvPr>
        </p:nvSpPr>
        <p:spPr>
          <a:xfrm>
            <a:off x="8523242" y="2717075"/>
            <a:ext cx="3546838" cy="3344092"/>
          </a:xfrm>
        </p:spPr>
        <p:txBody>
          <a:bodyPr rtlCol="0"/>
          <a:lstStyle/>
          <a:p>
            <a:pPr rtl="0"/>
            <a:r>
              <a:rPr lang="en-GB" sz="2400" b="1" dirty="0">
                <a:solidFill>
                  <a:schemeClr val="accent6">
                    <a:lumMod val="75000"/>
                  </a:schemeClr>
                </a:solidFill>
                <a:latin typeface="+mj-lt"/>
              </a:rPr>
              <a:t>Presented by  Group 1</a:t>
            </a:r>
            <a:endParaRPr lang="en-GB" sz="2400" b="1" dirty="0">
              <a:solidFill>
                <a:schemeClr val="accent6">
                  <a:lumMod val="75000"/>
                </a:schemeClr>
              </a:solidFill>
              <a:latin typeface="+mj-lt"/>
            </a:endParaRPr>
          </a:p>
          <a:p>
            <a:pPr rtl="0"/>
            <a:r>
              <a:rPr lang="en-GB" sz="2000" b="1" dirty="0">
                <a:solidFill>
                  <a:schemeClr val="bg2">
                    <a:lumMod val="25000"/>
                  </a:schemeClr>
                </a:solidFill>
              </a:rPr>
              <a:t>1</a:t>
            </a:r>
            <a:r>
              <a:rPr lang="en-GB" sz="2000" b="1" i="1" dirty="0">
                <a:solidFill>
                  <a:schemeClr val="bg2">
                    <a:lumMod val="25000"/>
                  </a:schemeClr>
                </a:solidFill>
                <a:latin typeface="+mj-lt"/>
              </a:rPr>
              <a:t>.</a:t>
            </a:r>
            <a:r>
              <a:rPr lang="en-GB" sz="2000" i="1" dirty="0">
                <a:solidFill>
                  <a:schemeClr val="bg2">
                    <a:lumMod val="25000"/>
                  </a:schemeClr>
                </a:solidFill>
                <a:latin typeface="+mj-lt"/>
              </a:rPr>
              <a:t>Priya Pramod </a:t>
            </a:r>
            <a:r>
              <a:rPr lang="en-GB" sz="2000" i="1" dirty="0" err="1">
                <a:solidFill>
                  <a:schemeClr val="bg2">
                    <a:lumMod val="25000"/>
                  </a:schemeClr>
                </a:solidFill>
                <a:latin typeface="+mj-lt"/>
              </a:rPr>
              <a:t>Dakhore</a:t>
            </a:r>
            <a:endParaRPr lang="en-GB" sz="2000" i="1" dirty="0">
              <a:solidFill>
                <a:schemeClr val="bg2">
                  <a:lumMod val="25000"/>
                </a:schemeClr>
              </a:solidFill>
              <a:latin typeface="+mj-lt"/>
            </a:endParaRPr>
          </a:p>
          <a:p>
            <a:pPr rtl="0"/>
            <a:r>
              <a:rPr lang="en-GB" sz="2000" i="1" dirty="0">
                <a:solidFill>
                  <a:schemeClr val="bg2">
                    <a:lumMod val="25000"/>
                  </a:schemeClr>
                </a:solidFill>
                <a:latin typeface="+mj-lt"/>
              </a:rPr>
              <a:t>2.Mrs. Arpita Vipul Naik</a:t>
            </a:r>
            <a:endParaRPr lang="en-GB" sz="2000" i="1" dirty="0">
              <a:solidFill>
                <a:schemeClr val="bg2">
                  <a:lumMod val="25000"/>
                </a:schemeClr>
              </a:solidFill>
              <a:latin typeface="+mj-lt"/>
            </a:endParaRPr>
          </a:p>
          <a:p>
            <a:pPr rtl="0"/>
            <a:r>
              <a:rPr lang="en-GB" sz="2000" i="1" dirty="0">
                <a:solidFill>
                  <a:schemeClr val="bg2">
                    <a:lumMod val="25000"/>
                  </a:schemeClr>
                </a:solidFill>
                <a:latin typeface="+mj-lt"/>
              </a:rPr>
              <a:t>3.Amita Mishra</a:t>
            </a:r>
            <a:endParaRPr lang="en-GB" sz="2000" i="1" dirty="0">
              <a:solidFill>
                <a:schemeClr val="bg2">
                  <a:lumMod val="25000"/>
                </a:schemeClr>
              </a:solidFill>
              <a:latin typeface="+mj-lt"/>
            </a:endParaRPr>
          </a:p>
          <a:p>
            <a:pPr rtl="0"/>
            <a:r>
              <a:rPr lang="en-GB" sz="2000" i="1" dirty="0">
                <a:solidFill>
                  <a:schemeClr val="bg2">
                    <a:lumMod val="25000"/>
                  </a:schemeClr>
                </a:solidFill>
                <a:latin typeface="+mj-lt"/>
              </a:rPr>
              <a:t>4.Prerna  Pyarelal Patil</a:t>
            </a:r>
            <a:endParaRPr lang="en-GB" sz="2000" i="1" dirty="0">
              <a:solidFill>
                <a:schemeClr val="bg2">
                  <a:lumMod val="25000"/>
                </a:schemeClr>
              </a:solidFill>
              <a:latin typeface="+mj-lt"/>
            </a:endParaRPr>
          </a:p>
          <a:p>
            <a:pPr rtl="0"/>
            <a:r>
              <a:rPr lang="en-GB" sz="2000" i="1" dirty="0">
                <a:solidFill>
                  <a:schemeClr val="bg2">
                    <a:lumMod val="25000"/>
                  </a:schemeClr>
                </a:solidFill>
                <a:latin typeface="+mj-lt"/>
              </a:rPr>
              <a:t>5.Spoorthi H T</a:t>
            </a:r>
            <a:endParaRPr lang="en-GB" sz="2000" i="1" dirty="0">
              <a:solidFill>
                <a:schemeClr val="bg2">
                  <a:lumMod val="25000"/>
                </a:schemeClr>
              </a:solidFill>
              <a:latin typeface="+mj-lt"/>
            </a:endParaRPr>
          </a:p>
          <a:p>
            <a:pPr rtl="0"/>
            <a:r>
              <a:rPr lang="en-GB" sz="2000" i="1" dirty="0">
                <a:solidFill>
                  <a:schemeClr val="bg2">
                    <a:lumMod val="25000"/>
                  </a:schemeClr>
                </a:solidFill>
                <a:latin typeface="+mj-lt"/>
              </a:rPr>
              <a:t>6.Ashish Patil</a:t>
            </a:r>
            <a:endParaRPr lang="en-GB" sz="2000" i="1" dirty="0">
              <a:solidFill>
                <a:schemeClr val="bg2">
                  <a:lumMod val="25000"/>
                </a:schemeClr>
              </a:solidFill>
              <a:latin typeface="+mj-lt"/>
            </a:endParaRPr>
          </a:p>
          <a:p>
            <a:pPr rtl="0"/>
            <a:r>
              <a:rPr lang="en-GB" sz="2000" i="1" dirty="0">
                <a:solidFill>
                  <a:schemeClr val="bg2">
                    <a:lumMod val="25000"/>
                  </a:schemeClr>
                </a:solidFill>
                <a:latin typeface="+mj-lt"/>
              </a:rPr>
              <a:t>7.Nazeema Shaik</a:t>
            </a:r>
            <a:endParaRPr lang="en-GB" sz="2000" i="1" dirty="0">
              <a:solidFill>
                <a:schemeClr val="bg2">
                  <a:lumMod val="25000"/>
                </a:schemeClr>
              </a:solidFill>
              <a:latin typeface="+mj-lt"/>
            </a:endParaRPr>
          </a:p>
          <a:p>
            <a:pPr rtl="0"/>
            <a:endParaRPr lang="en-GB" dirty="0"/>
          </a:p>
          <a:p>
            <a:pPr rtl="0"/>
            <a:endParaRPr lang="en-GB" dirty="0"/>
          </a:p>
          <a:p>
            <a:pPr rtl="0"/>
            <a:endParaRPr lang="en-GB" dirty="0"/>
          </a:p>
          <a:p>
            <a:pPr rtl="0"/>
            <a:endParaRPr lang="en-GB" dirty="0"/>
          </a:p>
          <a:p>
            <a:pPr rtl="0"/>
            <a:endParaRPr lang="en-GB" dirty="0"/>
          </a:p>
          <a:p>
            <a:pPr rtl="0"/>
            <a:endParaRPr lang="en-GB" dirty="0"/>
          </a:p>
          <a:p>
            <a:pPr rtl="0"/>
            <a:endParaRPr lang="en-GB"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31671" y="507274"/>
            <a:ext cx="5381897" cy="53818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64023" y="513807"/>
            <a:ext cx="8081654" cy="661850"/>
          </a:xfrm>
        </p:spPr>
        <p:txBody>
          <a:bodyPr rtlCol="0"/>
          <a:lstStyle/>
          <a:p>
            <a:pPr rtl="0"/>
            <a:r>
              <a:rPr lang="en-US" dirty="0"/>
              <a:t>Presentation Overview</a:t>
            </a:r>
            <a:endParaRPr lang="en-GB" dirty="0"/>
          </a:p>
        </p:txBody>
      </p:sp>
      <p:sp>
        <p:nvSpPr>
          <p:cNvPr id="6" name="Slide Number Placeholder 5"/>
          <p:cNvSpPr>
            <a:spLocks noGrp="1"/>
          </p:cNvSpPr>
          <p:nvPr>
            <p:ph type="sldNum" sz="quarter" idx="13"/>
          </p:nvPr>
        </p:nvSpPr>
        <p:spPr>
          <a:xfrm>
            <a:off x="971550" y="6332220"/>
            <a:ext cx="523240" cy="247651"/>
          </a:xfrm>
        </p:spPr>
        <p:txBody>
          <a:bodyPr rtlCol="0"/>
          <a:lstStyle/>
          <a:p>
            <a:pPr rtl="0"/>
            <a:fld id="{294A09A9-5501-47C1-A89A-A340965A2BE2}" type="slidenum">
              <a:rPr lang="en-GB" smtClean="0"/>
            </a:fld>
            <a:endParaRPr lang="en-GB" dirty="0"/>
          </a:p>
        </p:txBody>
      </p:sp>
      <p:graphicFrame>
        <p:nvGraphicFramePr>
          <p:cNvPr id="8" name="Table 7"/>
          <p:cNvGraphicFramePr>
            <a:graphicFrameLocks noGrp="1"/>
          </p:cNvGraphicFramePr>
          <p:nvPr/>
        </p:nvGraphicFramePr>
        <p:xfrm>
          <a:off x="1002535" y="1555688"/>
          <a:ext cx="5491290" cy="5251821"/>
        </p:xfrm>
        <a:graphic>
          <a:graphicData uri="http://schemas.openxmlformats.org/drawingml/2006/table">
            <a:tbl>
              <a:tblPr firstRow="1" bandRow="1">
                <a:tableStyleId>{3B4B98B0-60AC-42C2-AFA5-B58CD77FA1E5}</a:tableStyleId>
              </a:tblPr>
              <a:tblGrid>
                <a:gridCol w="5491290"/>
              </a:tblGrid>
              <a:tr h="542960">
                <a:tc>
                  <a:txBody>
                    <a:bodyPr/>
                    <a:lstStyle/>
                    <a:p>
                      <a:r>
                        <a:rPr lang="en-US" dirty="0">
                          <a:solidFill>
                            <a:schemeClr val="bg1"/>
                          </a:solidFill>
                        </a:rPr>
                        <a:t>1.Project Overview-Database Description </a:t>
                      </a:r>
                      <a:endParaRPr lang="en-US" dirty="0">
                        <a:solidFill>
                          <a:schemeClr val="bg1"/>
                        </a:solidFill>
                      </a:endParaRPr>
                    </a:p>
                  </a:txBody>
                  <a:tcPr/>
                </a:tc>
              </a:tr>
              <a:tr h="484051">
                <a:tc>
                  <a:txBody>
                    <a:bodyPr/>
                    <a:lstStyle/>
                    <a:p>
                      <a:r>
                        <a:rPr lang="en-US" dirty="0">
                          <a:solidFill>
                            <a:schemeClr val="accent6">
                              <a:lumMod val="75000"/>
                            </a:schemeClr>
                          </a:solidFill>
                        </a:rPr>
                        <a:t>2.</a:t>
                      </a:r>
                      <a:r>
                        <a:rPr lang="en-US" b="1" dirty="0">
                          <a:solidFill>
                            <a:schemeClr val="accent6">
                              <a:lumMod val="75000"/>
                            </a:schemeClr>
                          </a:solidFill>
                        </a:rPr>
                        <a:t>Yearly Project trends by  states</a:t>
                      </a:r>
                      <a:endParaRPr lang="en-GB" b="1" dirty="0">
                        <a:solidFill>
                          <a:schemeClr val="accent6">
                            <a:lumMod val="75000"/>
                          </a:schemeClr>
                        </a:solidFill>
                      </a:endParaRPr>
                    </a:p>
                  </a:txBody>
                  <a:tcPr/>
                </a:tc>
              </a:tr>
              <a:tr h="490775">
                <a:tc>
                  <a:txBody>
                    <a:bodyPr/>
                    <a:lstStyle/>
                    <a:p>
                      <a:r>
                        <a:rPr lang="en-US" dirty="0">
                          <a:solidFill>
                            <a:schemeClr val="bg1">
                              <a:lumMod val="75000"/>
                              <a:lumOff val="25000"/>
                            </a:schemeClr>
                          </a:solidFill>
                        </a:rPr>
                        <a:t>3.Percentage of Successful Projects  overall</a:t>
                      </a:r>
                      <a:endParaRPr lang="en-US" dirty="0">
                        <a:solidFill>
                          <a:schemeClr val="bg1">
                            <a:lumMod val="75000"/>
                            <a:lumOff val="25000"/>
                          </a:schemeClr>
                        </a:solidFill>
                      </a:endParaRPr>
                    </a:p>
                  </a:txBody>
                  <a:tcPr/>
                </a:tc>
              </a:tr>
              <a:tr h="490775">
                <a:tc>
                  <a:txBody>
                    <a:bodyPr/>
                    <a:lstStyle/>
                    <a:p>
                      <a:r>
                        <a:rPr lang="en-US" b="0" dirty="0">
                          <a:solidFill>
                            <a:schemeClr val="accent6">
                              <a:lumMod val="75000"/>
                            </a:schemeClr>
                          </a:solidFill>
                        </a:rPr>
                        <a:t>4.  </a:t>
                      </a:r>
                      <a:r>
                        <a:rPr lang="en-US" sz="1800" b="0" dirty="0">
                          <a:solidFill>
                            <a:schemeClr val="accent6">
                              <a:lumMod val="75000"/>
                            </a:schemeClr>
                          </a:solidFill>
                        </a:rPr>
                        <a:t>Percentage of Successful projects  by Goal Range</a:t>
                      </a:r>
                      <a:endParaRPr lang="en-US" b="0" dirty="0">
                        <a:solidFill>
                          <a:schemeClr val="accent6">
                            <a:lumMod val="75000"/>
                          </a:schemeClr>
                        </a:solidFill>
                      </a:endParaRPr>
                    </a:p>
                  </a:txBody>
                  <a:tcPr/>
                </a:tc>
              </a:tr>
              <a:tr h="49077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b="1" dirty="0">
                          <a:solidFill>
                            <a:schemeClr val="bg1">
                              <a:lumMod val="85000"/>
                              <a:lumOff val="15000"/>
                            </a:schemeClr>
                          </a:solidFill>
                        </a:rPr>
                        <a:t>5.</a:t>
                      </a:r>
                      <a:r>
                        <a:rPr lang="en-US" sz="1800" dirty="0">
                          <a:solidFill>
                            <a:schemeClr val="bg1">
                              <a:lumMod val="85000"/>
                              <a:lumOff val="15000"/>
                            </a:schemeClr>
                          </a:solidFill>
                        </a:rPr>
                        <a:t>CATGORIES OF PROJECTS</a:t>
                      </a:r>
                      <a:endParaRPr lang="en-US" sz="1800" dirty="0">
                        <a:solidFill>
                          <a:schemeClr val="bg1">
                            <a:lumMod val="85000"/>
                            <a:lumOff val="15000"/>
                          </a:schemeClr>
                        </a:solidFill>
                      </a:endParaRPr>
                    </a:p>
                    <a:p>
                      <a:endParaRPr lang="en-US" b="1" dirty="0">
                        <a:solidFill>
                          <a:schemeClr val="bg2">
                            <a:lumMod val="50000"/>
                          </a:schemeClr>
                        </a:solidFill>
                      </a:endParaRPr>
                    </a:p>
                  </a:txBody>
                  <a:tcPr/>
                </a:tc>
              </a:tr>
              <a:tr h="490775">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800" b="0" dirty="0">
                          <a:solidFill>
                            <a:schemeClr val="accent6">
                              <a:lumMod val="75000"/>
                            </a:schemeClr>
                          </a:solidFill>
                        </a:rPr>
                        <a:t>6.Top 3 Projects based on Category</a:t>
                      </a:r>
                      <a:endParaRPr lang="en-US" b="0" dirty="0">
                        <a:solidFill>
                          <a:schemeClr val="bg2">
                            <a:lumMod val="50000"/>
                          </a:schemeClr>
                        </a:solidFill>
                      </a:endParaRPr>
                    </a:p>
                    <a:p>
                      <a:endParaRPr lang="en-US" b="1" dirty="0">
                        <a:solidFill>
                          <a:schemeClr val="bg2">
                            <a:lumMod val="50000"/>
                          </a:schemeClr>
                        </a:solidFill>
                      </a:endParaRPr>
                    </a:p>
                  </a:txBody>
                  <a:tcPr/>
                </a:tc>
              </a:tr>
              <a:tr h="490775">
                <a:tc>
                  <a:txBody>
                    <a:bodyPr/>
                    <a:lstStyle/>
                    <a:p>
                      <a:r>
                        <a:rPr lang="en-US" b="1" dirty="0">
                          <a:solidFill>
                            <a:schemeClr val="bg1">
                              <a:lumMod val="75000"/>
                              <a:lumOff val="25000"/>
                            </a:schemeClr>
                          </a:solidFill>
                        </a:rPr>
                        <a:t>7. Top 3 category wise amount raised</a:t>
                      </a:r>
                      <a:endParaRPr lang="en-US" b="1" dirty="0">
                        <a:solidFill>
                          <a:schemeClr val="bg1">
                            <a:lumMod val="75000"/>
                            <a:lumOff val="25000"/>
                          </a:schemeClr>
                        </a:solidFill>
                      </a:endParaRPr>
                    </a:p>
                  </a:txBody>
                  <a:tcPr/>
                </a:tc>
              </a:tr>
              <a:tr h="490775">
                <a:tc>
                  <a:txBody>
                    <a:bodyPr/>
                    <a:lstStyle/>
                    <a:p>
                      <a:r>
                        <a:rPr lang="en-US" sz="1800" b="1" dirty="0">
                          <a:solidFill>
                            <a:schemeClr val="accent6">
                              <a:lumMod val="75000"/>
                            </a:schemeClr>
                          </a:solidFill>
                        </a:rPr>
                        <a:t>8.Top 3 Backers with Amount Raised</a:t>
                      </a:r>
                      <a:endParaRPr lang="en-GB" b="1" dirty="0">
                        <a:solidFill>
                          <a:schemeClr val="accent6">
                            <a:lumMod val="75000"/>
                          </a:schemeClr>
                        </a:solidFill>
                      </a:endParaRPr>
                    </a:p>
                  </a:txBody>
                  <a:tcPr/>
                </a:tc>
              </a:tr>
              <a:tr h="490775">
                <a:tc>
                  <a:txBody>
                    <a:bodyPr/>
                    <a:lstStyle/>
                    <a:p>
                      <a:r>
                        <a:rPr lang="en-US" sz="1800" b="1" dirty="0">
                          <a:solidFill>
                            <a:schemeClr val="bg1">
                              <a:lumMod val="75000"/>
                              <a:lumOff val="25000"/>
                            </a:schemeClr>
                          </a:solidFill>
                        </a:rPr>
                        <a:t>9.Total Number of Projects based on Locations</a:t>
                      </a:r>
                      <a:endParaRPr lang="en-GB" dirty="0">
                        <a:solidFill>
                          <a:schemeClr val="bg1">
                            <a:lumMod val="75000"/>
                            <a:lumOff val="25000"/>
                          </a:schemeClr>
                        </a:solidFill>
                      </a:endParaRPr>
                    </a:p>
                  </a:txBody>
                  <a:tcPr/>
                </a:tc>
              </a:tr>
              <a:tr h="490775">
                <a:tc>
                  <a:txBody>
                    <a:bodyPr/>
                    <a:lstStyle/>
                    <a:p>
                      <a:r>
                        <a:rPr lang="en-US" b="0" dirty="0">
                          <a:solidFill>
                            <a:schemeClr val="accent6">
                              <a:lumMod val="75000"/>
                            </a:schemeClr>
                          </a:solidFill>
                        </a:rPr>
                        <a:t>10.State wise amount raised</a:t>
                      </a:r>
                      <a:endParaRPr lang="en-US" b="0" dirty="0">
                        <a:solidFill>
                          <a:schemeClr val="accent6">
                            <a:lumMod val="75000"/>
                          </a:schemeClr>
                        </a:solidFill>
                      </a:endParaRPr>
                    </a:p>
                  </a:txBody>
                  <a:tcPr/>
                </a:tc>
              </a:tr>
            </a:tbl>
          </a:graphicData>
        </a:graphic>
      </p:graphicFrame>
      <p:graphicFrame>
        <p:nvGraphicFramePr>
          <p:cNvPr id="9" name="Table 8"/>
          <p:cNvGraphicFramePr>
            <a:graphicFrameLocks noGrp="1"/>
          </p:cNvGraphicFramePr>
          <p:nvPr/>
        </p:nvGraphicFramePr>
        <p:xfrm>
          <a:off x="6470469" y="1555684"/>
          <a:ext cx="4718996" cy="5251820"/>
        </p:xfrm>
        <a:graphic>
          <a:graphicData uri="http://schemas.openxmlformats.org/drawingml/2006/table">
            <a:tbl>
              <a:tblPr firstRow="1" bandRow="1">
                <a:tableStyleId>{3B4B98B0-60AC-42C2-AFA5-B58CD77FA1E5}</a:tableStyleId>
              </a:tblPr>
              <a:tblGrid>
                <a:gridCol w="4718996"/>
              </a:tblGrid>
              <a:tr h="576420">
                <a:tc>
                  <a:txBody>
                    <a:bodyPr/>
                    <a:lstStyle/>
                    <a:p>
                      <a:r>
                        <a:rPr lang="en-US" b="1" dirty="0">
                          <a:solidFill>
                            <a:schemeClr val="bg1"/>
                          </a:solidFill>
                        </a:rPr>
                        <a:t>11.Avg number of  days of successful project</a:t>
                      </a:r>
                      <a:endParaRPr lang="en-GB" b="1" dirty="0">
                        <a:solidFill>
                          <a:schemeClr val="bg1"/>
                        </a:solidFill>
                      </a:endParaRPr>
                    </a:p>
                  </a:txBody>
                  <a:tcPr/>
                </a:tc>
              </a:tr>
              <a:tr h="584425">
                <a:tc>
                  <a:txBody>
                    <a:bodyPr/>
                    <a:lstStyle/>
                    <a:p>
                      <a:r>
                        <a:rPr lang="en-US" dirty="0">
                          <a:solidFill>
                            <a:schemeClr val="accent6">
                              <a:lumMod val="75000"/>
                            </a:schemeClr>
                          </a:solidFill>
                        </a:rPr>
                        <a:t>12.Overall total number of projects </a:t>
                      </a:r>
                      <a:endParaRPr lang="en-US" dirty="0">
                        <a:solidFill>
                          <a:schemeClr val="accent6">
                            <a:lumMod val="75000"/>
                          </a:schemeClr>
                        </a:solidFill>
                      </a:endParaRPr>
                    </a:p>
                  </a:txBody>
                  <a:tcPr/>
                </a:tc>
              </a:tr>
              <a:tr h="584425">
                <a:tc>
                  <a:txBody>
                    <a:bodyPr/>
                    <a:lstStyle/>
                    <a:p>
                      <a:r>
                        <a:rPr lang="en-US" b="1" dirty="0">
                          <a:solidFill>
                            <a:schemeClr val="bg1"/>
                          </a:solidFill>
                        </a:rPr>
                        <a:t>13.Dashboards</a:t>
                      </a:r>
                      <a:endParaRPr lang="en-US" b="1" dirty="0">
                        <a:solidFill>
                          <a:schemeClr val="bg1"/>
                        </a:solidFill>
                      </a:endParaRPr>
                    </a:p>
                  </a:txBody>
                  <a:tcPr/>
                </a:tc>
              </a:tr>
              <a:tr h="584425">
                <a:tc>
                  <a:txBody>
                    <a:bodyPr/>
                    <a:lstStyle/>
                    <a:p>
                      <a:r>
                        <a:rPr lang="en-US" dirty="0">
                          <a:solidFill>
                            <a:schemeClr val="bg1">
                              <a:lumMod val="95000"/>
                              <a:lumOff val="5000"/>
                            </a:schemeClr>
                          </a:solidFill>
                        </a:rPr>
                        <a:t>          I. Excel</a:t>
                      </a:r>
                      <a:endParaRPr lang="en-US" dirty="0">
                        <a:solidFill>
                          <a:schemeClr val="bg1">
                            <a:lumMod val="95000"/>
                            <a:lumOff val="5000"/>
                          </a:schemeClr>
                        </a:solidFill>
                      </a:endParaRPr>
                    </a:p>
                  </a:txBody>
                  <a:tcPr/>
                </a:tc>
              </a:tr>
              <a:tr h="584425">
                <a:tc>
                  <a:txBody>
                    <a:bodyPr/>
                    <a:lstStyle/>
                    <a:p>
                      <a:r>
                        <a:rPr lang="en-US" dirty="0">
                          <a:solidFill>
                            <a:schemeClr val="bg1">
                              <a:lumMod val="95000"/>
                              <a:lumOff val="5000"/>
                            </a:schemeClr>
                          </a:solidFill>
                        </a:rPr>
                        <a:t>          ii. Power BI</a:t>
                      </a:r>
                      <a:endParaRPr lang="en-GB" dirty="0">
                        <a:solidFill>
                          <a:schemeClr val="bg1">
                            <a:lumMod val="95000"/>
                            <a:lumOff val="5000"/>
                          </a:schemeClr>
                        </a:solidFill>
                      </a:endParaRPr>
                    </a:p>
                  </a:txBody>
                  <a:tcPr/>
                </a:tc>
              </a:tr>
              <a:tr h="584425">
                <a:tc>
                  <a:txBody>
                    <a:bodyPr/>
                    <a:lstStyle/>
                    <a:p>
                      <a:r>
                        <a:rPr lang="en-US" dirty="0">
                          <a:solidFill>
                            <a:schemeClr val="bg2">
                              <a:lumMod val="10000"/>
                            </a:schemeClr>
                          </a:solidFill>
                        </a:rPr>
                        <a:t>          iii. Tableau </a:t>
                      </a:r>
                      <a:endParaRPr lang="en-US" dirty="0">
                        <a:solidFill>
                          <a:schemeClr val="bg2">
                            <a:lumMod val="10000"/>
                          </a:schemeClr>
                        </a:solidFill>
                      </a:endParaRPr>
                    </a:p>
                  </a:txBody>
                  <a:tcPr/>
                </a:tc>
              </a:tr>
              <a:tr h="584425">
                <a:tc>
                  <a:txBody>
                    <a:bodyPr/>
                    <a:lstStyle/>
                    <a:p>
                      <a:r>
                        <a:rPr lang="en-US" b="1" dirty="0">
                          <a:solidFill>
                            <a:schemeClr val="accent2">
                              <a:lumMod val="50000"/>
                            </a:schemeClr>
                          </a:solidFill>
                        </a:rPr>
                        <a:t>14.SQL Queries</a:t>
                      </a:r>
                      <a:endParaRPr lang="en-US" b="1" dirty="0">
                        <a:solidFill>
                          <a:schemeClr val="accent2">
                            <a:lumMod val="50000"/>
                          </a:schemeClr>
                        </a:solidFill>
                      </a:endParaRPr>
                    </a:p>
                  </a:txBody>
                  <a:tcPr/>
                </a:tc>
              </a:tr>
              <a:tr h="584425">
                <a:tc>
                  <a:txBody>
                    <a:bodyPr/>
                    <a:lstStyle/>
                    <a:p>
                      <a:r>
                        <a:rPr lang="en-US" b="1" dirty="0">
                          <a:solidFill>
                            <a:schemeClr val="bg1"/>
                          </a:solidFill>
                        </a:rPr>
                        <a:t>15.Summery</a:t>
                      </a:r>
                      <a:endParaRPr lang="en-US" b="1" dirty="0">
                        <a:solidFill>
                          <a:schemeClr val="bg1"/>
                        </a:solidFill>
                      </a:endParaRPr>
                    </a:p>
                  </a:txBody>
                  <a:tcPr/>
                </a:tc>
              </a:tr>
              <a:tr h="584425">
                <a:tc>
                  <a:txBody>
                    <a:bodyPr/>
                    <a:lstStyle/>
                    <a:p>
                      <a:r>
                        <a:rPr lang="en-US" b="1" dirty="0">
                          <a:solidFill>
                            <a:schemeClr val="accent6">
                              <a:lumMod val="75000"/>
                            </a:schemeClr>
                          </a:solidFill>
                        </a:rPr>
                        <a:t>16.Challenges</a:t>
                      </a:r>
                      <a:endParaRPr lang="en-US" b="1" dirty="0">
                        <a:solidFill>
                          <a:schemeClr val="accent6">
                            <a:lumMod val="75000"/>
                          </a:schemeClr>
                        </a:solidFill>
                      </a:endParaRPr>
                    </a:p>
                  </a:txBody>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hart Placeholder 1"/>
          <p:cNvSpPr>
            <a:spLocks noGrp="1"/>
          </p:cNvSpPr>
          <p:nvPr>
            <p:ph type="chart" sz="quarter" idx="10"/>
          </p:nvPr>
        </p:nvSpPr>
        <p:spPr/>
      </p:sp>
      <p:sp>
        <p:nvSpPr>
          <p:cNvPr id="3" name="Title 2"/>
          <p:cNvSpPr>
            <a:spLocks noGrp="1"/>
          </p:cNvSpPr>
          <p:nvPr>
            <p:ph type="title"/>
          </p:nvPr>
        </p:nvSpPr>
        <p:spPr/>
        <p:txBody>
          <a:bodyPr/>
          <a:p>
            <a:endParaRPr lang="en-US"/>
          </a:p>
        </p:txBody>
      </p:sp>
      <p:sp>
        <p:nvSpPr>
          <p:cNvPr id="4" name="Date Placeholder 3"/>
          <p:cNvSpPr>
            <a:spLocks noGrp="1"/>
          </p:cNvSpPr>
          <p:nvPr>
            <p:ph type="dt" sz="half" idx="11"/>
          </p:nvPr>
        </p:nvSpPr>
        <p:spPr/>
        <p:txBody>
          <a:bodyPr/>
          <a:p>
            <a:pPr rtl="0"/>
            <a:fld id="{029ECAD1-3047-43DC-81B7-231597E81F19}" type="datetime3">
              <a:rPr lang="en-GB" noProof="0" smtClean="0">
                <a:latin typeface="+mn-lt"/>
              </a:rPr>
            </a:fld>
            <a:endParaRPr lang="en-GB" noProof="0">
              <a:latin typeface="+mn-lt"/>
            </a:endParaRPr>
          </a:p>
        </p:txBody>
      </p:sp>
      <p:sp>
        <p:nvSpPr>
          <p:cNvPr id="5" name="Footer Placeholder 4"/>
          <p:cNvSpPr>
            <a:spLocks noGrp="1"/>
          </p:cNvSpPr>
          <p:nvPr>
            <p:ph type="ftr" sz="quarter" idx="12"/>
          </p:nvPr>
        </p:nvSpPr>
        <p:spPr/>
        <p:txBody>
          <a:bodyPr/>
          <a:p>
            <a:pPr rtl="0"/>
            <a:r>
              <a:rPr lang="en-GB" noProof="0"/>
              <a:t>Annual Review</a:t>
            </a:r>
            <a:endParaRPr lang="en-GB" b="0" noProof="0"/>
          </a:p>
        </p:txBody>
      </p:sp>
      <p:sp>
        <p:nvSpPr>
          <p:cNvPr id="6" name="Slide Number Placeholder 5"/>
          <p:cNvSpPr>
            <a:spLocks noGrp="1"/>
          </p:cNvSpPr>
          <p:nvPr>
            <p:ph type="sldNum" sz="quarter" idx="13"/>
          </p:nvPr>
        </p:nvSpPr>
        <p:spPr/>
        <p:txBody>
          <a:bodyPr/>
          <a:p>
            <a:pPr rtl="0"/>
            <a:fld id="{294A09A9-5501-47C1-A89A-A340965A2BE2}" type="slidenum">
              <a:rPr lang="en-GB" noProof="0" smtClean="0"/>
            </a:fld>
            <a:endParaRPr lang="en-GB" noProof="0">
              <a:latin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hart Placeholder 1"/>
          <p:cNvSpPr>
            <a:spLocks noGrp="1"/>
          </p:cNvSpPr>
          <p:nvPr>
            <p:ph type="chart" sz="quarter" idx="10"/>
          </p:nvPr>
        </p:nvSpPr>
        <p:spPr/>
      </p:sp>
      <p:sp>
        <p:nvSpPr>
          <p:cNvPr id="3" name="Title 2"/>
          <p:cNvSpPr>
            <a:spLocks noGrp="1"/>
          </p:cNvSpPr>
          <p:nvPr>
            <p:ph type="title"/>
          </p:nvPr>
        </p:nvSpPr>
        <p:spPr/>
        <p:txBody>
          <a:bodyPr/>
          <a:p>
            <a:endParaRPr lang="en-US"/>
          </a:p>
        </p:txBody>
      </p:sp>
      <p:sp>
        <p:nvSpPr>
          <p:cNvPr id="4" name="Date Placeholder 3"/>
          <p:cNvSpPr>
            <a:spLocks noGrp="1"/>
          </p:cNvSpPr>
          <p:nvPr>
            <p:ph type="dt" sz="half" idx="11"/>
          </p:nvPr>
        </p:nvSpPr>
        <p:spPr/>
        <p:txBody>
          <a:bodyPr/>
          <a:p>
            <a:pPr rtl="0"/>
            <a:fld id="{029ECAD1-3047-43DC-81B7-231597E81F19}" type="datetime3">
              <a:rPr lang="en-GB" noProof="0" smtClean="0">
                <a:latin typeface="+mn-lt"/>
              </a:rPr>
            </a:fld>
            <a:endParaRPr lang="en-GB" noProof="0">
              <a:latin typeface="+mn-lt"/>
            </a:endParaRPr>
          </a:p>
        </p:txBody>
      </p:sp>
      <p:sp>
        <p:nvSpPr>
          <p:cNvPr id="5" name="Footer Placeholder 4"/>
          <p:cNvSpPr>
            <a:spLocks noGrp="1"/>
          </p:cNvSpPr>
          <p:nvPr>
            <p:ph type="ftr" sz="quarter" idx="12"/>
          </p:nvPr>
        </p:nvSpPr>
        <p:spPr/>
        <p:txBody>
          <a:bodyPr/>
          <a:p>
            <a:pPr rtl="0"/>
            <a:r>
              <a:rPr lang="en-GB" noProof="0"/>
              <a:t>Annual Review</a:t>
            </a:r>
            <a:endParaRPr lang="en-GB" b="0" noProof="0"/>
          </a:p>
        </p:txBody>
      </p:sp>
      <p:sp>
        <p:nvSpPr>
          <p:cNvPr id="6" name="Slide Number Placeholder 5"/>
          <p:cNvSpPr>
            <a:spLocks noGrp="1"/>
          </p:cNvSpPr>
          <p:nvPr>
            <p:ph type="sldNum" sz="quarter" idx="13"/>
          </p:nvPr>
        </p:nvSpPr>
        <p:spPr/>
        <p:txBody>
          <a:bodyPr/>
          <a:p>
            <a:pPr rtl="0"/>
            <a:fld id="{294A09A9-5501-47C1-A89A-A340965A2BE2}" type="slidenum">
              <a:rPr lang="en-GB" noProof="0" smtClean="0"/>
            </a:fld>
            <a:endParaRPr lang="en-GB" noProof="0">
              <a:latin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0" y="455736"/>
            <a:ext cx="7560545" cy="610863"/>
          </a:xfrm>
        </p:spPr>
        <p:txBody>
          <a:bodyPr rtlCol="0">
            <a:normAutofit/>
          </a:bodyPr>
          <a:lstStyle/>
          <a:p>
            <a:pPr rtl="0"/>
            <a:r>
              <a:rPr lang="en-US" dirty="0"/>
              <a:t>Project Overview</a:t>
            </a:r>
            <a:endParaRPr lang="en-GB" b="1" dirty="0"/>
          </a:p>
        </p:txBody>
      </p:sp>
      <p:sp>
        <p:nvSpPr>
          <p:cNvPr id="6" name="Slide Number Placeholder 5"/>
          <p:cNvSpPr>
            <a:spLocks noGrp="1"/>
          </p:cNvSpPr>
          <p:nvPr>
            <p:ph type="sldNum" sz="quarter" idx="13"/>
          </p:nvPr>
        </p:nvSpPr>
        <p:spPr>
          <a:xfrm>
            <a:off x="971550" y="6332220"/>
            <a:ext cx="523240" cy="247651"/>
          </a:xfrm>
        </p:spPr>
        <p:txBody>
          <a:bodyPr rtlCol="0"/>
          <a:lstStyle/>
          <a:p>
            <a:pPr rtl="0"/>
            <a:fld id="{294A09A9-5501-47C1-A89A-A340965A2BE2}" type="slidenum">
              <a:rPr lang="en-GB" smtClean="0"/>
            </a:fld>
            <a:endParaRPr lang="en-GB" dirty="0"/>
          </a:p>
        </p:txBody>
      </p:sp>
      <p:sp>
        <p:nvSpPr>
          <p:cNvPr id="9" name="TextBox 8"/>
          <p:cNvSpPr txBox="1"/>
          <p:nvPr/>
        </p:nvSpPr>
        <p:spPr>
          <a:xfrm>
            <a:off x="870713" y="1066599"/>
            <a:ext cx="8767064" cy="2308324"/>
          </a:xfrm>
          <a:prstGeom prst="rect">
            <a:avLst/>
          </a:prstGeom>
          <a:noFill/>
        </p:spPr>
        <p:txBody>
          <a:bodyPr wrap="square" rtlCol="0">
            <a:spAutoFit/>
          </a:bodyPr>
          <a:lstStyle/>
          <a:p>
            <a:r>
              <a:rPr lang="en-US" b="1" dirty="0">
                <a:solidFill>
                  <a:schemeClr val="bg1">
                    <a:lumMod val="95000"/>
                    <a:lumOff val="5000"/>
                  </a:schemeClr>
                </a:solidFill>
              </a:rPr>
              <a:t>Kickstarter is popular platform  where people raise money  for their projects. By analyzing Kickstarter data, we can learn</a:t>
            </a:r>
            <a:endParaRPr lang="en-US" b="1" dirty="0">
              <a:solidFill>
                <a:schemeClr val="bg1">
                  <a:lumMod val="95000"/>
                  <a:lumOff val="5000"/>
                </a:schemeClr>
              </a:solidFill>
            </a:endParaRPr>
          </a:p>
          <a:p>
            <a:endParaRPr lang="en-US" b="1" dirty="0">
              <a:solidFill>
                <a:schemeClr val="bg1">
                  <a:lumMod val="95000"/>
                  <a:lumOff val="5000"/>
                </a:schemeClr>
              </a:solidFill>
            </a:endParaRPr>
          </a:p>
          <a:p>
            <a:pPr marL="285750" indent="-285750">
              <a:buFont typeface="Wingdings" panose="05000000000000000000" pitchFamily="2" charset="2"/>
              <a:buChar char="Ø"/>
            </a:pPr>
            <a:r>
              <a:rPr lang="en-US" dirty="0">
                <a:solidFill>
                  <a:schemeClr val="bg1">
                    <a:lumMod val="95000"/>
                    <a:lumOff val="5000"/>
                  </a:schemeClr>
                </a:solidFill>
              </a:rPr>
              <a:t>What makes  a campaign successful.</a:t>
            </a:r>
            <a:endParaRPr lang="en-US" dirty="0">
              <a:solidFill>
                <a:schemeClr val="bg1">
                  <a:lumMod val="95000"/>
                  <a:lumOff val="5000"/>
                </a:schemeClr>
              </a:solidFill>
            </a:endParaRPr>
          </a:p>
          <a:p>
            <a:pPr marL="285750" indent="-285750">
              <a:buFont typeface="Wingdings" panose="05000000000000000000" pitchFamily="2" charset="2"/>
              <a:buChar char="Ø"/>
            </a:pPr>
            <a:r>
              <a:rPr lang="en-US" dirty="0">
                <a:solidFill>
                  <a:schemeClr val="bg1">
                    <a:lumMod val="95000"/>
                    <a:lumOff val="5000"/>
                  </a:schemeClr>
                </a:solidFill>
              </a:rPr>
              <a:t>We look at the things  like how much money was raised , How many people supported it , and type of project </a:t>
            </a:r>
            <a:endParaRPr lang="en-US" dirty="0">
              <a:solidFill>
                <a:schemeClr val="bg1">
                  <a:lumMod val="95000"/>
                  <a:lumOff val="5000"/>
                </a:schemeClr>
              </a:solidFill>
            </a:endParaRPr>
          </a:p>
          <a:p>
            <a:pPr marL="285750" indent="-285750">
              <a:buFont typeface="Wingdings" panose="05000000000000000000" pitchFamily="2" charset="2"/>
              <a:buChar char="Ø"/>
            </a:pPr>
            <a:r>
              <a:rPr lang="en-US" dirty="0">
                <a:solidFill>
                  <a:schemeClr val="bg1">
                    <a:lumMod val="95000"/>
                    <a:lumOff val="5000"/>
                  </a:schemeClr>
                </a:solidFill>
              </a:rPr>
              <a:t>This helps us to find patterns and predict which  campaigns might do well .Overall ,it gives creators tips on how to improve  their chances of success</a:t>
            </a:r>
            <a:endParaRPr lang="en-GB" dirty="0">
              <a:solidFill>
                <a:schemeClr val="bg1">
                  <a:lumMod val="95000"/>
                  <a:lumOff val="5000"/>
                </a:schemeClr>
              </a:solidFill>
            </a:endParaRPr>
          </a:p>
        </p:txBody>
      </p:sp>
      <p:sp>
        <p:nvSpPr>
          <p:cNvPr id="11" name="TextBox 10"/>
          <p:cNvSpPr txBox="1"/>
          <p:nvPr/>
        </p:nvSpPr>
        <p:spPr>
          <a:xfrm>
            <a:off x="971550" y="3244334"/>
            <a:ext cx="5593842" cy="584775"/>
          </a:xfrm>
          <a:prstGeom prst="rect">
            <a:avLst/>
          </a:prstGeom>
          <a:noFill/>
        </p:spPr>
        <p:txBody>
          <a:bodyPr wrap="square" rtlCol="0">
            <a:spAutoFit/>
          </a:bodyPr>
          <a:lstStyle/>
          <a:p>
            <a:r>
              <a:rPr lang="en-US" sz="3200" dirty="0">
                <a:solidFill>
                  <a:schemeClr val="bg1">
                    <a:lumMod val="95000"/>
                    <a:lumOff val="5000"/>
                  </a:schemeClr>
                </a:solidFill>
                <a:latin typeface="+mj-lt"/>
              </a:rPr>
              <a:t>Database Description</a:t>
            </a:r>
            <a:endParaRPr lang="en-GB" sz="3200" dirty="0">
              <a:solidFill>
                <a:schemeClr val="bg1">
                  <a:lumMod val="95000"/>
                  <a:lumOff val="5000"/>
                </a:schemeClr>
              </a:solidFill>
              <a:latin typeface="+mj-lt"/>
            </a:endParaRPr>
          </a:p>
        </p:txBody>
      </p:sp>
      <p:sp>
        <p:nvSpPr>
          <p:cNvPr id="13" name="TextBox 12"/>
          <p:cNvSpPr txBox="1"/>
          <p:nvPr/>
        </p:nvSpPr>
        <p:spPr>
          <a:xfrm>
            <a:off x="952500" y="3829109"/>
            <a:ext cx="11519916" cy="646331"/>
          </a:xfrm>
          <a:prstGeom prst="rect">
            <a:avLst/>
          </a:prstGeom>
          <a:noFill/>
        </p:spPr>
        <p:txBody>
          <a:bodyPr wrap="square" rtlCol="0">
            <a:spAutoFit/>
          </a:bodyPr>
          <a:lstStyle/>
          <a:p>
            <a:r>
              <a:rPr lang="en-US" dirty="0">
                <a:solidFill>
                  <a:schemeClr val="bg1"/>
                </a:solidFill>
              </a:rPr>
              <a:t>The Kickstarter dataset contains detailed information about various crowd  funding campaigns .it includes fields</a:t>
            </a:r>
            <a:endParaRPr lang="en-US" dirty="0">
              <a:solidFill>
                <a:schemeClr val="bg1"/>
              </a:solidFill>
            </a:endParaRPr>
          </a:p>
          <a:p>
            <a:r>
              <a:rPr lang="en-US" dirty="0">
                <a:solidFill>
                  <a:schemeClr val="bg1"/>
                </a:solidFill>
              </a:rPr>
              <a:t> like</a:t>
            </a:r>
            <a:endParaRPr lang="en-GB" dirty="0">
              <a:solidFill>
                <a:schemeClr val="bg1"/>
              </a:solidFill>
            </a:endParaRPr>
          </a:p>
        </p:txBody>
      </p:sp>
      <p:graphicFrame>
        <p:nvGraphicFramePr>
          <p:cNvPr id="16" name="Table 15"/>
          <p:cNvGraphicFramePr>
            <a:graphicFrameLocks noGrp="1"/>
          </p:cNvGraphicFramePr>
          <p:nvPr/>
        </p:nvGraphicFramePr>
        <p:xfrm>
          <a:off x="971550" y="4475441"/>
          <a:ext cx="9511917" cy="2024337"/>
        </p:xfrm>
        <a:graphic>
          <a:graphicData uri="http://schemas.openxmlformats.org/drawingml/2006/table">
            <a:tbl>
              <a:tblPr firstCol="1" lastCol="1" bandRow="1">
                <a:tableStyleId>{5C22544A-7EE6-4342-B048-85BDC9FD1C3A}</a:tableStyleId>
              </a:tblPr>
              <a:tblGrid>
                <a:gridCol w="1991106"/>
                <a:gridCol w="3822192"/>
                <a:gridCol w="3698619"/>
              </a:tblGrid>
              <a:tr h="578026">
                <a:tc>
                  <a:txBody>
                    <a:bodyPr/>
                    <a:lstStyle/>
                    <a:p>
                      <a:r>
                        <a:rPr lang="en-US" dirty="0"/>
                        <a:t>Project Id</a:t>
                      </a:r>
                      <a:endParaRPr lang="en-GB" dirty="0"/>
                    </a:p>
                  </a:txBody>
                  <a:tcPr>
                    <a:solidFill>
                      <a:schemeClr val="accent3"/>
                    </a:solidFill>
                  </a:tcPr>
                </a:tc>
                <a:tc>
                  <a:txBody>
                    <a:bodyPr/>
                    <a:lstStyle/>
                    <a:p>
                      <a:r>
                        <a:rPr lang="en-US" dirty="0"/>
                        <a:t>Goal amount</a:t>
                      </a:r>
                      <a:endParaRPr lang="en-GB" dirty="0"/>
                    </a:p>
                  </a:txBody>
                  <a:tcPr>
                    <a:solidFill>
                      <a:schemeClr val="accent6"/>
                    </a:solidFill>
                  </a:tcPr>
                </a:tc>
                <a:tc>
                  <a:txBody>
                    <a:bodyPr/>
                    <a:lstStyle/>
                    <a:p>
                      <a:r>
                        <a:rPr lang="en-US" dirty="0"/>
                        <a:t>Status of project  Success or failure</a:t>
                      </a:r>
                      <a:endParaRPr lang="en-GB" dirty="0"/>
                    </a:p>
                  </a:txBody>
                  <a:tcPr>
                    <a:solidFill>
                      <a:schemeClr val="tx2"/>
                    </a:solidFill>
                  </a:tcPr>
                </a:tc>
              </a:tr>
              <a:tr h="330301">
                <a:tc>
                  <a:txBody>
                    <a:bodyPr/>
                    <a:lstStyle/>
                    <a:p>
                      <a:r>
                        <a:rPr lang="en-US" dirty="0"/>
                        <a:t>Category Id</a:t>
                      </a:r>
                      <a:endParaRPr lang="en-GB" dirty="0"/>
                    </a:p>
                  </a:txBody>
                  <a:tcPr>
                    <a:solidFill>
                      <a:schemeClr val="accent3"/>
                    </a:solidFill>
                  </a:tcPr>
                </a:tc>
                <a:tc>
                  <a:txBody>
                    <a:bodyPr/>
                    <a:lstStyle/>
                    <a:p>
                      <a:r>
                        <a:rPr lang="en-US" dirty="0"/>
                        <a:t>Project Name </a:t>
                      </a:r>
                      <a:endParaRPr lang="en-GB" dirty="0"/>
                    </a:p>
                  </a:txBody>
                  <a:tcPr>
                    <a:solidFill>
                      <a:schemeClr val="accent6"/>
                    </a:solidFill>
                  </a:tcPr>
                </a:tc>
                <a:tc>
                  <a:txBody>
                    <a:bodyPr/>
                    <a:lstStyle/>
                    <a:p>
                      <a:r>
                        <a:rPr lang="en-US" dirty="0"/>
                        <a:t>Launch Date </a:t>
                      </a:r>
                      <a:endParaRPr lang="en-GB" dirty="0"/>
                    </a:p>
                  </a:txBody>
                  <a:tcPr>
                    <a:solidFill>
                      <a:schemeClr val="tx2"/>
                    </a:solidFill>
                  </a:tcPr>
                </a:tc>
              </a:tr>
              <a:tr h="440471">
                <a:tc>
                  <a:txBody>
                    <a:bodyPr/>
                    <a:lstStyle/>
                    <a:p>
                      <a:r>
                        <a:rPr lang="en-US" dirty="0"/>
                        <a:t>Location Id</a:t>
                      </a:r>
                      <a:endParaRPr lang="en-GB" dirty="0"/>
                    </a:p>
                  </a:txBody>
                  <a:tcPr>
                    <a:solidFill>
                      <a:schemeClr val="accent3"/>
                    </a:solidFill>
                  </a:tcPr>
                </a:tc>
                <a:tc>
                  <a:txBody>
                    <a:bodyPr/>
                    <a:lstStyle/>
                    <a:p>
                      <a:r>
                        <a:rPr lang="en-US" dirty="0"/>
                        <a:t>Pledged Amount</a:t>
                      </a:r>
                      <a:endParaRPr lang="en-GB" dirty="0"/>
                    </a:p>
                  </a:txBody>
                  <a:tcPr>
                    <a:solidFill>
                      <a:schemeClr val="accent6"/>
                    </a:solidFill>
                  </a:tcPr>
                </a:tc>
                <a:tc>
                  <a:txBody>
                    <a:bodyPr/>
                    <a:lstStyle/>
                    <a:p>
                      <a:r>
                        <a:rPr lang="en-US" dirty="0"/>
                        <a:t>Deadline date</a:t>
                      </a:r>
                      <a:endParaRPr lang="en-GB" dirty="0"/>
                    </a:p>
                  </a:txBody>
                  <a:tcPr>
                    <a:solidFill>
                      <a:schemeClr val="tx2"/>
                    </a:solidFill>
                  </a:tcPr>
                </a:tc>
              </a:tr>
              <a:tr h="578026">
                <a:tc>
                  <a:txBody>
                    <a:bodyPr/>
                    <a:lstStyle/>
                    <a:p>
                      <a:r>
                        <a:rPr lang="en-US" dirty="0"/>
                        <a:t>Category</a:t>
                      </a:r>
                      <a:endParaRPr lang="en-GB" dirty="0"/>
                    </a:p>
                  </a:txBody>
                  <a:tcPr>
                    <a:solidFill>
                      <a:schemeClr val="accent3"/>
                    </a:solidFill>
                  </a:tcPr>
                </a:tc>
                <a:tc>
                  <a:txBody>
                    <a:bodyPr/>
                    <a:lstStyle/>
                    <a:p>
                      <a:r>
                        <a:rPr lang="en-US" dirty="0"/>
                        <a:t>Number of Backers</a:t>
                      </a:r>
                      <a:endParaRPr lang="en-GB" dirty="0"/>
                    </a:p>
                  </a:txBody>
                  <a:tcPr>
                    <a:solidFill>
                      <a:schemeClr val="accent6"/>
                    </a:solidFill>
                  </a:tcPr>
                </a:tc>
                <a:tc>
                  <a:txBody>
                    <a:bodyPr/>
                    <a:lstStyle/>
                    <a:p>
                      <a:r>
                        <a:rPr lang="en-US" dirty="0"/>
                        <a:t>Country of origin</a:t>
                      </a:r>
                      <a:endParaRPr lang="en-US" dirty="0"/>
                    </a:p>
                    <a:p>
                      <a:endParaRPr lang="en-GB" dirty="0"/>
                    </a:p>
                  </a:txBody>
                  <a:tcPr>
                    <a:solidFill>
                      <a:schemeClr val="tx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hart 10"/>
          <p:cNvGraphicFramePr/>
          <p:nvPr/>
        </p:nvGraphicFramePr>
        <p:xfrm>
          <a:off x="3908475" y="1544397"/>
          <a:ext cx="8128000" cy="3769206"/>
        </p:xfrm>
        <a:graphic>
          <a:graphicData uri="http://schemas.openxmlformats.org/drawingml/2006/chart">
            <c:chart xmlns:c="http://schemas.openxmlformats.org/drawingml/2006/chart" xmlns:r="http://schemas.openxmlformats.org/officeDocument/2006/relationships" r:id="rId1"/>
          </a:graphicData>
        </a:graphic>
      </p:graphicFrame>
      <p:sp>
        <p:nvSpPr>
          <p:cNvPr id="17" name="Title 16"/>
          <p:cNvSpPr>
            <a:spLocks noGrp="1"/>
          </p:cNvSpPr>
          <p:nvPr>
            <p:ph type="title"/>
          </p:nvPr>
        </p:nvSpPr>
        <p:spPr>
          <a:xfrm>
            <a:off x="838200" y="621963"/>
            <a:ext cx="10515600" cy="641206"/>
          </a:xfrm>
        </p:spPr>
        <p:txBody>
          <a:bodyPr>
            <a:normAutofit fontScale="90000"/>
          </a:bodyPr>
          <a:lstStyle/>
          <a:p>
            <a:r>
              <a:rPr lang="en-IN" dirty="0">
                <a:latin typeface="+mn-lt"/>
              </a:rPr>
              <a:t>YEAR WISE TRENDS IN PROJECTS</a:t>
            </a:r>
            <a:endParaRPr lang="en-IN" dirty="0">
              <a:latin typeface="+mn-lt"/>
            </a:endParaRPr>
          </a:p>
        </p:txBody>
      </p:sp>
      <p:sp>
        <p:nvSpPr>
          <p:cNvPr id="19" name="Content Placeholder 18"/>
          <p:cNvSpPr>
            <a:spLocks noGrp="1"/>
          </p:cNvSpPr>
          <p:nvPr>
            <p:ph idx="1"/>
          </p:nvPr>
        </p:nvSpPr>
        <p:spPr>
          <a:xfrm>
            <a:off x="838201" y="1544397"/>
            <a:ext cx="3507768" cy="4801754"/>
          </a:xfrm>
        </p:spPr>
        <p:txBody>
          <a:bodyPr>
            <a:normAutofit/>
          </a:bodyPr>
          <a:lstStyle/>
          <a:p>
            <a:pPr>
              <a:buFont typeface="Wingdings" panose="05000000000000000000" pitchFamily="2" charset="2"/>
              <a:buChar char="§"/>
            </a:pPr>
            <a:r>
              <a:rPr lang="en-US" sz="1800" dirty="0"/>
              <a:t>Over the past six years, there has been a significant decline in the number of projects, with 2014 standing out as the year with the highest project count. </a:t>
            </a:r>
            <a:endParaRPr lang="en-US" sz="1800" dirty="0"/>
          </a:p>
          <a:p>
            <a:pPr>
              <a:buFont typeface="Wingdings" panose="05000000000000000000" pitchFamily="2" charset="2"/>
              <a:buChar char="§"/>
            </a:pPr>
            <a:r>
              <a:rPr lang="en-US" sz="1800" dirty="0"/>
              <a:t>This decline is notable and suggests that various factors, such as market saturation, changes in platforms, or shifts in industry trends, may have influenced the drop in projects over time.</a:t>
            </a:r>
            <a:endParaRPr lang="en-IN"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1400" y="512812"/>
            <a:ext cx="9144000" cy="633701"/>
          </a:xfrm>
        </p:spPr>
        <p:txBody>
          <a:bodyPr>
            <a:noAutofit/>
          </a:bodyPr>
          <a:lstStyle/>
          <a:p>
            <a:r>
              <a:rPr lang="en-IN" sz="4000" dirty="0">
                <a:latin typeface="+mn-lt"/>
              </a:rPr>
              <a:t>STATE OF PROJECTS</a:t>
            </a:r>
            <a:endParaRPr lang="en-IN" sz="4000" dirty="0">
              <a:latin typeface="+mn-lt"/>
            </a:endParaRPr>
          </a:p>
        </p:txBody>
      </p:sp>
      <p:sp>
        <p:nvSpPr>
          <p:cNvPr id="17" name="TextBox 16"/>
          <p:cNvSpPr txBox="1"/>
          <p:nvPr/>
        </p:nvSpPr>
        <p:spPr>
          <a:xfrm>
            <a:off x="8937406" y="4171753"/>
            <a:ext cx="2771848" cy="1015663"/>
          </a:xfrm>
          <a:prstGeom prst="rect">
            <a:avLst/>
          </a:prstGeom>
          <a:noFill/>
        </p:spPr>
        <p:txBody>
          <a:bodyPr wrap="square" rtlCol="0" anchor="ctr">
            <a:spAutoFit/>
          </a:bodyPr>
          <a:lstStyle/>
          <a:p>
            <a:pPr>
              <a:spcBef>
                <a:spcPts val="600"/>
              </a:spcBef>
            </a:pPr>
            <a:r>
              <a:rPr lang="en-US" sz="1600" b="1" dirty="0">
                <a:solidFill>
                  <a:schemeClr val="bg1"/>
                </a:solidFill>
              </a:rPr>
              <a:t>Purged</a:t>
            </a:r>
            <a:r>
              <a:rPr lang="en-US" sz="1400" dirty="0">
                <a:solidFill>
                  <a:schemeClr val="bg1"/>
                </a:solidFill>
              </a:rPr>
              <a:t>, </a:t>
            </a:r>
            <a:r>
              <a:rPr lang="en-US" sz="1600" b="1" dirty="0">
                <a:solidFill>
                  <a:schemeClr val="bg1"/>
                </a:solidFill>
              </a:rPr>
              <a:t>Suspended</a:t>
            </a:r>
            <a:r>
              <a:rPr lang="en-US" sz="1400" dirty="0">
                <a:solidFill>
                  <a:schemeClr val="bg1"/>
                </a:solidFill>
              </a:rPr>
              <a:t>, </a:t>
            </a:r>
            <a:r>
              <a:rPr lang="en-US" sz="1400" dirty="0">
                <a:solidFill>
                  <a:schemeClr val="bg1"/>
                </a:solidFill>
                <a:latin typeface="Calibi"/>
              </a:rPr>
              <a:t>and </a:t>
            </a:r>
            <a:r>
              <a:rPr lang="en-US" sz="1600" b="1" dirty="0">
                <a:solidFill>
                  <a:schemeClr val="bg1"/>
                </a:solidFill>
                <a:latin typeface="Calibi"/>
              </a:rPr>
              <a:t>Live</a:t>
            </a:r>
            <a:r>
              <a:rPr lang="en-US" sz="1400" dirty="0">
                <a:solidFill>
                  <a:schemeClr val="bg1"/>
                </a:solidFill>
                <a:latin typeface="Calibi"/>
              </a:rPr>
              <a:t>—</a:t>
            </a:r>
            <a:r>
              <a:rPr lang="en-US" sz="1400" dirty="0">
                <a:solidFill>
                  <a:schemeClr val="bg1"/>
                </a:solidFill>
                <a:latin typeface="Calibi"/>
                <a:ea typeface="Calibri" panose="020F0502020204030204" pitchFamily="34" charset="0"/>
                <a:cs typeface="Calibri" panose="020F0502020204030204" pitchFamily="34" charset="0"/>
              </a:rPr>
              <a:t>each representing only 1% of the total data—these are less common project statuses</a:t>
            </a:r>
            <a:r>
              <a:rPr lang="en-US" sz="1400" dirty="0">
                <a:solidFill>
                  <a:schemeClr val="bg1"/>
                </a:solidFill>
                <a:latin typeface="Calibi"/>
              </a:rPr>
              <a:t>.</a:t>
            </a:r>
            <a:endParaRPr lang="en-US" sz="1400" dirty="0">
              <a:solidFill>
                <a:schemeClr val="bg1"/>
              </a:solidFill>
              <a:latin typeface="Calibi"/>
            </a:endParaRPr>
          </a:p>
        </p:txBody>
      </p:sp>
      <p:sp>
        <p:nvSpPr>
          <p:cNvPr id="19" name="Oval 18"/>
          <p:cNvSpPr/>
          <p:nvPr/>
        </p:nvSpPr>
        <p:spPr>
          <a:xfrm>
            <a:off x="7835105" y="4466453"/>
            <a:ext cx="914400" cy="91440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Google Shape;9176;p73"/>
          <p:cNvSpPr/>
          <p:nvPr/>
        </p:nvSpPr>
        <p:spPr>
          <a:xfrm>
            <a:off x="8140949" y="4679585"/>
            <a:ext cx="490613" cy="484832"/>
          </a:xfrm>
          <a:custGeom>
            <a:avLst/>
            <a:gdLst/>
            <a:ahLst/>
            <a:cxnLst/>
            <a:rect l="l" t="t" r="r" b="b"/>
            <a:pathLst>
              <a:path w="11941" h="11816" extrusionOk="0">
                <a:moveTo>
                  <a:pt x="6963" y="1198"/>
                </a:moveTo>
                <a:lnTo>
                  <a:pt x="7876" y="2143"/>
                </a:lnTo>
                <a:lnTo>
                  <a:pt x="6963" y="2143"/>
                </a:lnTo>
                <a:lnTo>
                  <a:pt x="6963" y="1198"/>
                </a:lnTo>
                <a:close/>
                <a:moveTo>
                  <a:pt x="10286" y="3498"/>
                </a:moveTo>
                <a:cubicBezTo>
                  <a:pt x="10373" y="3498"/>
                  <a:pt x="10460" y="3530"/>
                  <a:pt x="10523" y="3593"/>
                </a:cubicBezTo>
                <a:lnTo>
                  <a:pt x="10995" y="4065"/>
                </a:lnTo>
                <a:cubicBezTo>
                  <a:pt x="11184" y="4223"/>
                  <a:pt x="11184" y="4475"/>
                  <a:pt x="11027" y="4569"/>
                </a:cubicBezTo>
                <a:lnTo>
                  <a:pt x="10806" y="4821"/>
                </a:lnTo>
                <a:lnTo>
                  <a:pt x="9798" y="3845"/>
                </a:lnTo>
                <a:lnTo>
                  <a:pt x="10050" y="3593"/>
                </a:lnTo>
                <a:cubicBezTo>
                  <a:pt x="10113" y="3530"/>
                  <a:pt x="10200" y="3498"/>
                  <a:pt x="10286" y="3498"/>
                </a:cubicBezTo>
                <a:close/>
                <a:moveTo>
                  <a:pt x="9294" y="4349"/>
                </a:moveTo>
                <a:lnTo>
                  <a:pt x="10271" y="5325"/>
                </a:lnTo>
                <a:lnTo>
                  <a:pt x="7845" y="7783"/>
                </a:lnTo>
                <a:lnTo>
                  <a:pt x="6868" y="6774"/>
                </a:lnTo>
                <a:lnTo>
                  <a:pt x="9294" y="4349"/>
                </a:lnTo>
                <a:close/>
                <a:moveTo>
                  <a:pt x="6585" y="7499"/>
                </a:moveTo>
                <a:lnTo>
                  <a:pt x="7183" y="8098"/>
                </a:lnTo>
                <a:lnTo>
                  <a:pt x="6427" y="8255"/>
                </a:lnTo>
                <a:lnTo>
                  <a:pt x="6585" y="7499"/>
                </a:lnTo>
                <a:close/>
                <a:moveTo>
                  <a:pt x="6994" y="10398"/>
                </a:moveTo>
                <a:lnTo>
                  <a:pt x="6994" y="10776"/>
                </a:lnTo>
                <a:cubicBezTo>
                  <a:pt x="6994" y="10870"/>
                  <a:pt x="7057" y="10996"/>
                  <a:pt x="7089" y="11122"/>
                </a:cubicBezTo>
                <a:lnTo>
                  <a:pt x="1071" y="11122"/>
                </a:lnTo>
                <a:cubicBezTo>
                  <a:pt x="882" y="11122"/>
                  <a:pt x="693" y="10965"/>
                  <a:pt x="693" y="10776"/>
                </a:cubicBezTo>
                <a:lnTo>
                  <a:pt x="693" y="10398"/>
                </a:lnTo>
                <a:close/>
                <a:moveTo>
                  <a:pt x="6270" y="663"/>
                </a:moveTo>
                <a:lnTo>
                  <a:pt x="6270" y="2458"/>
                </a:lnTo>
                <a:cubicBezTo>
                  <a:pt x="6270" y="2647"/>
                  <a:pt x="6427" y="2805"/>
                  <a:pt x="6616" y="2805"/>
                </a:cubicBezTo>
                <a:lnTo>
                  <a:pt x="8349" y="2805"/>
                </a:lnTo>
                <a:lnTo>
                  <a:pt x="8349" y="4286"/>
                </a:lnTo>
                <a:lnTo>
                  <a:pt x="6112" y="6554"/>
                </a:lnTo>
                <a:cubicBezTo>
                  <a:pt x="6081" y="6585"/>
                  <a:pt x="6018" y="6680"/>
                  <a:pt x="6018" y="6711"/>
                </a:cubicBezTo>
                <a:lnTo>
                  <a:pt x="5608" y="8633"/>
                </a:lnTo>
                <a:cubicBezTo>
                  <a:pt x="5545" y="8759"/>
                  <a:pt x="5608" y="8885"/>
                  <a:pt x="5671" y="8948"/>
                </a:cubicBezTo>
                <a:cubicBezTo>
                  <a:pt x="5742" y="9019"/>
                  <a:pt x="5813" y="9055"/>
                  <a:pt x="5897" y="9055"/>
                </a:cubicBezTo>
                <a:cubicBezTo>
                  <a:pt x="5925" y="9055"/>
                  <a:pt x="5955" y="9051"/>
                  <a:pt x="5986" y="9043"/>
                </a:cubicBezTo>
                <a:lnTo>
                  <a:pt x="7908" y="8602"/>
                </a:lnTo>
                <a:cubicBezTo>
                  <a:pt x="8002" y="8602"/>
                  <a:pt x="8034" y="8570"/>
                  <a:pt x="8065" y="8507"/>
                </a:cubicBezTo>
                <a:lnTo>
                  <a:pt x="8349" y="8255"/>
                </a:lnTo>
                <a:lnTo>
                  <a:pt x="8349" y="10807"/>
                </a:lnTo>
                <a:lnTo>
                  <a:pt x="8380" y="10807"/>
                </a:lnTo>
                <a:cubicBezTo>
                  <a:pt x="8380" y="10996"/>
                  <a:pt x="8223" y="11154"/>
                  <a:pt x="8034" y="11154"/>
                </a:cubicBezTo>
                <a:cubicBezTo>
                  <a:pt x="7845" y="11154"/>
                  <a:pt x="7687" y="10996"/>
                  <a:pt x="7687" y="10807"/>
                </a:cubicBezTo>
                <a:lnTo>
                  <a:pt x="7687" y="10083"/>
                </a:lnTo>
                <a:cubicBezTo>
                  <a:pt x="7687" y="9893"/>
                  <a:pt x="7530" y="9736"/>
                  <a:pt x="7309" y="9736"/>
                </a:cubicBezTo>
                <a:lnTo>
                  <a:pt x="1386" y="9736"/>
                </a:lnTo>
                <a:lnTo>
                  <a:pt x="1386" y="663"/>
                </a:lnTo>
                <a:close/>
                <a:moveTo>
                  <a:pt x="1071" y="1"/>
                </a:moveTo>
                <a:cubicBezTo>
                  <a:pt x="882" y="1"/>
                  <a:pt x="693" y="158"/>
                  <a:pt x="693" y="379"/>
                </a:cubicBezTo>
                <a:lnTo>
                  <a:pt x="693" y="9736"/>
                </a:lnTo>
                <a:lnTo>
                  <a:pt x="347" y="9736"/>
                </a:lnTo>
                <a:cubicBezTo>
                  <a:pt x="158" y="9736"/>
                  <a:pt x="0" y="9893"/>
                  <a:pt x="0" y="10083"/>
                </a:cubicBezTo>
                <a:lnTo>
                  <a:pt x="0" y="10807"/>
                </a:lnTo>
                <a:cubicBezTo>
                  <a:pt x="0" y="11406"/>
                  <a:pt x="473" y="11815"/>
                  <a:pt x="1008" y="11815"/>
                </a:cubicBezTo>
                <a:lnTo>
                  <a:pt x="8002" y="11815"/>
                </a:lnTo>
                <a:cubicBezTo>
                  <a:pt x="8569" y="11815"/>
                  <a:pt x="9011" y="11343"/>
                  <a:pt x="9011" y="10807"/>
                </a:cubicBezTo>
                <a:lnTo>
                  <a:pt x="9011" y="7562"/>
                </a:lnTo>
                <a:lnTo>
                  <a:pt x="11499" y="5105"/>
                </a:lnTo>
                <a:cubicBezTo>
                  <a:pt x="11940" y="4664"/>
                  <a:pt x="11940" y="4034"/>
                  <a:pt x="11531" y="3593"/>
                </a:cubicBezTo>
                <a:lnTo>
                  <a:pt x="11058" y="3120"/>
                </a:lnTo>
                <a:cubicBezTo>
                  <a:pt x="10869" y="2931"/>
                  <a:pt x="10609" y="2836"/>
                  <a:pt x="10346" y="2836"/>
                </a:cubicBezTo>
                <a:cubicBezTo>
                  <a:pt x="10082" y="2836"/>
                  <a:pt x="9814" y="2931"/>
                  <a:pt x="9609" y="3120"/>
                </a:cubicBezTo>
                <a:lnTo>
                  <a:pt x="9105" y="3624"/>
                </a:lnTo>
                <a:lnTo>
                  <a:pt x="9105" y="2490"/>
                </a:lnTo>
                <a:cubicBezTo>
                  <a:pt x="9105" y="2427"/>
                  <a:pt x="9074" y="2332"/>
                  <a:pt x="8979" y="2269"/>
                </a:cubicBezTo>
                <a:lnTo>
                  <a:pt x="6900" y="127"/>
                </a:lnTo>
                <a:cubicBezTo>
                  <a:pt x="6805" y="64"/>
                  <a:pt x="6742" y="1"/>
                  <a:pt x="6648" y="1"/>
                </a:cubicBezTo>
                <a:close/>
              </a:path>
            </a:pathLst>
          </a:custGeom>
          <a:noFill/>
          <a:ln>
            <a:solidFill>
              <a:schemeClr val="bg1"/>
            </a:solid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Box 21"/>
          <p:cNvSpPr txBox="1"/>
          <p:nvPr/>
        </p:nvSpPr>
        <p:spPr>
          <a:xfrm>
            <a:off x="221861" y="1951080"/>
            <a:ext cx="1649397" cy="1954381"/>
          </a:xfrm>
          <a:prstGeom prst="rect">
            <a:avLst/>
          </a:prstGeom>
          <a:noFill/>
        </p:spPr>
        <p:txBody>
          <a:bodyPr wrap="square">
            <a:spAutoFit/>
          </a:bodyPr>
          <a:lstStyle/>
          <a:p>
            <a:pPr algn="r">
              <a:spcBef>
                <a:spcPts val="600"/>
              </a:spcBef>
            </a:pPr>
            <a:r>
              <a:rPr lang="en-US" b="1" dirty="0">
                <a:solidFill>
                  <a:schemeClr val="accent2">
                    <a:lumMod val="75000"/>
                  </a:schemeClr>
                </a:solidFill>
                <a:latin typeface="Calibi"/>
              </a:rPr>
              <a:t>Failed</a:t>
            </a:r>
            <a:endParaRPr lang="en-US" b="1" dirty="0">
              <a:solidFill>
                <a:schemeClr val="accent2">
                  <a:lumMod val="75000"/>
                </a:schemeClr>
              </a:solidFill>
              <a:latin typeface="Calibi"/>
            </a:endParaRPr>
          </a:p>
          <a:p>
            <a:pPr>
              <a:spcBef>
                <a:spcPts val="600"/>
              </a:spcBef>
            </a:pP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The project did not reach its funding goal within the specified timeframe, so it did not receive the funds.</a:t>
            </a:r>
            <a:endPar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23" name="Chart 22"/>
          <p:cNvGraphicFramePr/>
          <p:nvPr/>
        </p:nvGraphicFramePr>
        <p:xfrm>
          <a:off x="2034901" y="1424768"/>
          <a:ext cx="7091784" cy="4659341"/>
        </p:xfrm>
        <a:graphic>
          <a:graphicData uri="http://schemas.openxmlformats.org/drawingml/2006/chart">
            <c:chart xmlns:c="http://schemas.openxmlformats.org/drawingml/2006/chart" xmlns:r="http://schemas.openxmlformats.org/officeDocument/2006/relationships" r:id="rId1"/>
          </a:graphicData>
        </a:graphic>
      </p:graphicFrame>
      <p:grpSp>
        <p:nvGrpSpPr>
          <p:cNvPr id="24" name="Group 23"/>
          <p:cNvGrpSpPr/>
          <p:nvPr/>
        </p:nvGrpSpPr>
        <p:grpSpPr>
          <a:xfrm>
            <a:off x="244904" y="2047304"/>
            <a:ext cx="10945610" cy="4135151"/>
            <a:chOff x="844127" y="1902038"/>
            <a:chExt cx="10793407" cy="4135151"/>
          </a:xfrm>
        </p:grpSpPr>
        <p:sp>
          <p:nvSpPr>
            <p:cNvPr id="26" name="TextBox 25"/>
            <p:cNvSpPr txBox="1"/>
            <p:nvPr/>
          </p:nvSpPr>
          <p:spPr>
            <a:xfrm>
              <a:off x="844127" y="3898142"/>
              <a:ext cx="1681450" cy="2139047"/>
            </a:xfrm>
            <a:prstGeom prst="rect">
              <a:avLst/>
            </a:prstGeom>
            <a:noFill/>
          </p:spPr>
          <p:txBody>
            <a:bodyPr wrap="square" rtlCol="0" anchor="ctr">
              <a:spAutoFit/>
            </a:bodyPr>
            <a:lstStyle/>
            <a:p>
              <a:pPr algn="r">
                <a:spcBef>
                  <a:spcPts val="600"/>
                </a:spcBef>
              </a:pPr>
              <a:r>
                <a:rPr lang="en-US" sz="1600" b="1" dirty="0">
                  <a:solidFill>
                    <a:schemeClr val="accent3">
                      <a:lumMod val="50000"/>
                    </a:schemeClr>
                  </a:solidFill>
                  <a:latin typeface="Lora" pitchFamily="2" charset="0"/>
                </a:rPr>
                <a:t>Canceled</a:t>
              </a:r>
              <a:endParaRPr lang="en-US" sz="1600" b="1" dirty="0">
                <a:solidFill>
                  <a:schemeClr val="accent3">
                    <a:lumMod val="50000"/>
                  </a:schemeClr>
                </a:solidFill>
                <a:latin typeface="Lora" pitchFamily="2" charset="0"/>
              </a:endParaRPr>
            </a:p>
            <a:p>
              <a:pPr>
                <a:spcBef>
                  <a:spcPts val="600"/>
                </a:spcBef>
              </a:pP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The project was canceled by the creator before the funding period ended, meaning it was voluntarily halted, and no funds were collected</a:t>
              </a:r>
              <a:r>
                <a:rPr lang="en-US" sz="1400" dirty="0">
                  <a:latin typeface="Calibri" panose="020F0502020204030204" pitchFamily="34" charset="0"/>
                  <a:ea typeface="Calibri" panose="020F0502020204030204" pitchFamily="34" charset="0"/>
                  <a:cs typeface="Calibri" panose="020F0502020204030204" pitchFamily="34" charset="0"/>
                </a:rPr>
                <a:t>.</a:t>
              </a:r>
              <a:endParaRPr lang="en-US" sz="1400" dirty="0">
                <a:latin typeface="Calibri" panose="020F0502020204030204" pitchFamily="34" charset="0"/>
                <a:ea typeface="Calibri" panose="020F0502020204030204" pitchFamily="34" charset="0"/>
                <a:cs typeface="Calibri" panose="020F0502020204030204" pitchFamily="34" charset="0"/>
              </a:endParaRPr>
            </a:p>
          </p:txBody>
        </p:sp>
        <p:sp>
          <p:nvSpPr>
            <p:cNvPr id="27" name="TextBox 26"/>
            <p:cNvSpPr txBox="1"/>
            <p:nvPr/>
          </p:nvSpPr>
          <p:spPr>
            <a:xfrm>
              <a:off x="9415451" y="1902038"/>
              <a:ext cx="2222083" cy="1277273"/>
            </a:xfrm>
            <a:prstGeom prst="rect">
              <a:avLst/>
            </a:prstGeom>
            <a:noFill/>
          </p:spPr>
          <p:txBody>
            <a:bodyPr wrap="square" rtlCol="0" anchor="ctr">
              <a:spAutoFit/>
            </a:bodyPr>
            <a:lstStyle/>
            <a:p>
              <a:pPr>
                <a:spcBef>
                  <a:spcPts val="600"/>
                </a:spcBef>
              </a:pPr>
              <a:r>
                <a:rPr lang="en-US" sz="1600" b="1" dirty="0">
                  <a:solidFill>
                    <a:srgbClr val="00B050"/>
                  </a:solidFill>
                  <a:latin typeface="Lora" pitchFamily="2" charset="0"/>
                </a:rPr>
                <a:t>Successful</a:t>
              </a:r>
              <a:endParaRPr lang="en-US" sz="1600" b="1" dirty="0">
                <a:solidFill>
                  <a:srgbClr val="00B050"/>
                </a:solidFill>
                <a:latin typeface="Lora" pitchFamily="2" charset="0"/>
              </a:endParaRPr>
            </a:p>
            <a:p>
              <a:pPr>
                <a:spcBef>
                  <a:spcPts val="600"/>
                </a:spcBef>
              </a:pPr>
              <a:r>
                <a:rPr lang="en-US" sz="1400" dirty="0">
                  <a:solidFill>
                    <a:schemeClr val="bg1"/>
                  </a:solidFill>
                  <a:latin typeface="Calibi"/>
                </a:rPr>
                <a:t>The project met or exceeded its funding goal, and it successfully secured the pledged funds</a:t>
              </a:r>
              <a:r>
                <a:rPr lang="en-US" sz="1400" dirty="0">
                  <a:solidFill>
                    <a:schemeClr val="bg1"/>
                  </a:solidFill>
                </a:rPr>
                <a:t>.</a:t>
              </a:r>
              <a:endParaRPr lang="en-US" sz="1400" dirty="0">
                <a:solidFill>
                  <a:schemeClr val="bg1"/>
                </a:solidFill>
                <a:latin typeface="Lora" pitchFamily="2" charset="0"/>
              </a:endParaRPr>
            </a:p>
          </p:txBody>
        </p:sp>
        <p:sp>
          <p:nvSpPr>
            <p:cNvPr id="29" name="Oval 28"/>
            <p:cNvSpPr/>
            <p:nvPr/>
          </p:nvSpPr>
          <p:spPr>
            <a:xfrm>
              <a:off x="2776546" y="4213613"/>
              <a:ext cx="914400" cy="9144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p:cNvSpPr/>
            <p:nvPr/>
          </p:nvSpPr>
          <p:spPr>
            <a:xfrm>
              <a:off x="8267971" y="2146228"/>
              <a:ext cx="914400" cy="914400"/>
            </a:xfrm>
            <a:prstGeom prst="ellipse">
              <a:avLst/>
            </a:prstGeom>
            <a:solidFill>
              <a:srgbClr val="92D050"/>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31" name="Oval 30"/>
            <p:cNvSpPr/>
            <p:nvPr/>
          </p:nvSpPr>
          <p:spPr>
            <a:xfrm>
              <a:off x="2803440" y="2133903"/>
              <a:ext cx="914400" cy="914400"/>
            </a:xfrm>
            <a:prstGeom prst="ellipse">
              <a:avLst/>
            </a:prstGeom>
            <a:solidFill>
              <a:schemeClr val="accent2">
                <a:lumMod val="75000"/>
              </a:schemeClr>
            </a:solidFill>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pic>
          <p:nvPicPr>
            <p:cNvPr id="32" name="Picture 31"/>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2968860" y="4437894"/>
              <a:ext cx="529772" cy="529772"/>
            </a:xfrm>
            <a:prstGeom prst="rect">
              <a:avLst/>
            </a:prstGeom>
          </p:spPr>
        </p:pic>
        <p:pic>
          <p:nvPicPr>
            <p:cNvPr id="33" name="Picture 32"/>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8442191" y="2311483"/>
              <a:ext cx="583890" cy="583890"/>
            </a:xfrm>
            <a:prstGeom prst="rect">
              <a:avLst/>
            </a:prstGeom>
          </p:spPr>
        </p:pic>
        <p:pic>
          <p:nvPicPr>
            <p:cNvPr id="34" name="Picture 33"/>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Lst>
            </a:blip>
            <a:stretch>
              <a:fillRect/>
            </a:stretch>
          </p:blipFill>
          <p:spPr>
            <a:xfrm>
              <a:off x="2977657" y="2283140"/>
              <a:ext cx="583890" cy="583890"/>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631" y="226032"/>
            <a:ext cx="11408227" cy="827437"/>
          </a:xfrm>
        </p:spPr>
        <p:txBody>
          <a:bodyPr>
            <a:normAutofit/>
          </a:bodyPr>
          <a:lstStyle/>
          <a:p>
            <a:r>
              <a:rPr lang="en-US" sz="3600" dirty="0">
                <a:solidFill>
                  <a:schemeClr val="accent1">
                    <a:lumMod val="75000"/>
                  </a:schemeClr>
                </a:solidFill>
              </a:rPr>
              <a:t>Percentage of Successful projects  by Goal Range</a:t>
            </a:r>
            <a:endParaRPr lang="en-US" sz="3600" dirty="0">
              <a:solidFill>
                <a:schemeClr val="accent1">
                  <a:lumMod val="75000"/>
                </a:schemeClr>
              </a:solidFill>
            </a:endParaRPr>
          </a:p>
        </p:txBody>
      </p:sp>
      <p:sp>
        <p:nvSpPr>
          <p:cNvPr id="3" name="Content Placeholder 2"/>
          <p:cNvSpPr>
            <a:spLocks noGrp="1"/>
          </p:cNvSpPr>
          <p:nvPr>
            <p:ph idx="1"/>
          </p:nvPr>
        </p:nvSpPr>
        <p:spPr>
          <a:xfrm>
            <a:off x="359229" y="1191802"/>
            <a:ext cx="11408227" cy="5301073"/>
          </a:xfrm>
        </p:spPr>
        <p:txBody>
          <a:bodyPr>
            <a:normAutofit/>
          </a:bodyPr>
          <a:lstStyle/>
          <a:p>
            <a:r>
              <a:rPr lang="en-US" sz="1800" dirty="0"/>
              <a:t>“This chart shows the distribution of successful projects across different goal ranges. As we can see, projects with goals between $1,001 - $5,000 have the highest success rate at  37.91%, followed by the  $5,001 - $10,000 range at 23.10% .”</a:t>
            </a:r>
            <a:endParaRPr lang="en-US" sz="1800" dirty="0"/>
          </a:p>
          <a:p>
            <a:pPr marL="0" indent="0">
              <a:buNone/>
            </a:pPr>
            <a:endParaRPr lang="en-US" sz="1800" dirty="0"/>
          </a:p>
          <a:p>
            <a:pPr marL="0" indent="0">
              <a:buNone/>
            </a:pPr>
            <a:endParaRPr lang="en-US" sz="1800" dirty="0"/>
          </a:p>
          <a:p>
            <a:pPr marL="0" indent="0">
              <a:buNone/>
            </a:pPr>
            <a:endParaRPr lang="en-US" sz="1800" dirty="0"/>
          </a:p>
          <a:p>
            <a:pPr marL="0" indent="0">
              <a:buNone/>
            </a:pPr>
            <a:r>
              <a:rPr lang="en-US" sz="2000" b="1" dirty="0"/>
              <a:t>Recommendation:  </a:t>
            </a:r>
            <a:r>
              <a:rPr lang="en-US" sz="2000" dirty="0"/>
              <a:t>For future crowdfunding</a:t>
            </a:r>
            <a:endParaRPr lang="en-US" sz="2000" dirty="0"/>
          </a:p>
          <a:p>
            <a:pPr marL="0" indent="0">
              <a:buNone/>
            </a:pPr>
            <a:r>
              <a:rPr lang="en-US" sz="2000" dirty="0"/>
              <a:t> campaigns, it’s advisable to set a goal within the </a:t>
            </a:r>
            <a:endParaRPr lang="en-US" sz="2000" dirty="0"/>
          </a:p>
          <a:p>
            <a:pPr marL="0" indent="0">
              <a:buNone/>
            </a:pPr>
            <a:r>
              <a:rPr lang="en-US" sz="2000" b="1" dirty="0"/>
              <a:t>$1,001 - $5,000</a:t>
            </a:r>
            <a:r>
              <a:rPr lang="en-US" sz="2000" dirty="0"/>
              <a:t> range to maximize the chances of</a:t>
            </a:r>
            <a:endParaRPr lang="en-US" sz="2000" dirty="0"/>
          </a:p>
          <a:p>
            <a:pPr marL="0" indent="0">
              <a:buNone/>
            </a:pPr>
            <a:r>
              <a:rPr lang="en-US" sz="2000" dirty="0"/>
              <a:t> success. </a:t>
            </a:r>
            <a:endParaRPr lang="en-US" sz="2000" b="1" dirty="0"/>
          </a:p>
        </p:txBody>
      </p:sp>
      <p:pic>
        <p:nvPicPr>
          <p:cNvPr id="5" name="Picture 4"/>
          <p:cNvPicPr>
            <a:picLocks noChangeAspect="1"/>
          </p:cNvPicPr>
          <p:nvPr/>
        </p:nvPicPr>
        <p:blipFill>
          <a:blip r:embed="rId1">
            <a:extLst>
              <a:ext uri="{BEBA8EAE-BF5A-486C-A8C5-ECC9F3942E4B}">
                <a14:imgProps xmlns:a14="http://schemas.microsoft.com/office/drawing/2010/main">
                  <a14:imgLayer r:embed="rId2">
                    <a14:imgEffect>
                      <a14:sharpenSoften amount="50000"/>
                    </a14:imgEffect>
                  </a14:imgLayer>
                </a14:imgProps>
              </a:ext>
            </a:extLst>
          </a:blip>
          <a:stretch>
            <a:fillRect/>
          </a:stretch>
        </p:blipFill>
        <p:spPr>
          <a:xfrm>
            <a:off x="6215742" y="1959429"/>
            <a:ext cx="5475514" cy="4533445"/>
          </a:xfrm>
          <a:prstGeom prst="rect">
            <a:avLst/>
          </a:prstGeom>
          <a:ln>
            <a:solidFill>
              <a:schemeClr val="tx1"/>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p:cNvGraphicFramePr/>
          <p:nvPr/>
        </p:nvGraphicFramePr>
        <p:xfrm>
          <a:off x="4493877" y="2397210"/>
          <a:ext cx="6749143" cy="3674965"/>
        </p:xfrm>
        <a:graphic>
          <a:graphicData uri="http://schemas.openxmlformats.org/drawingml/2006/chart">
            <c:chart xmlns:c="http://schemas.openxmlformats.org/drawingml/2006/chart" xmlns:r="http://schemas.openxmlformats.org/officeDocument/2006/relationships" r:id="rId1"/>
          </a:graphicData>
        </a:graphic>
      </p:graphicFrame>
      <p:sp>
        <p:nvSpPr>
          <p:cNvPr id="5" name="TextBox 4"/>
          <p:cNvSpPr txBox="1"/>
          <p:nvPr/>
        </p:nvSpPr>
        <p:spPr>
          <a:xfrm>
            <a:off x="653144" y="1353746"/>
            <a:ext cx="10885712" cy="738664"/>
          </a:xfrm>
          <a:prstGeom prst="rect">
            <a:avLst/>
          </a:prstGeom>
          <a:noFill/>
        </p:spPr>
        <p:txBody>
          <a:bodyPr wrap="square">
            <a:spAutoFit/>
          </a:bodyPr>
          <a:lstStyle/>
          <a:p>
            <a:pPr>
              <a:spcBef>
                <a:spcPts val="600"/>
              </a:spcBef>
            </a:pPr>
            <a:r>
              <a:rPr lang="en-US" sz="1400" dirty="0"/>
              <a:t>These insights into the popularity of </a:t>
            </a:r>
            <a:r>
              <a:rPr lang="en-US" sz="1400" b="1" dirty="0"/>
              <a:t>Product Design</a:t>
            </a:r>
            <a:r>
              <a:rPr lang="en-US" sz="1400" dirty="0"/>
              <a:t>, </a:t>
            </a:r>
            <a:r>
              <a:rPr lang="en-US" sz="1400" b="1" dirty="0"/>
              <a:t>Tabletop Games</a:t>
            </a:r>
            <a:r>
              <a:rPr lang="en-US" sz="1400" dirty="0"/>
              <a:t>, and </a:t>
            </a:r>
            <a:r>
              <a:rPr lang="en-US" sz="1400" b="1" dirty="0"/>
              <a:t>Music</a:t>
            </a:r>
            <a:r>
              <a:rPr lang="en-US" sz="1400" dirty="0"/>
              <a:t> provide actionable data that can help platforms, creators, and investors better navigate the crowdfunding landscape. It allows for smarter resource allocation, targeted marketing, competitive differentiation, and the creation of supportive communities, all of which contribute to improving the success rates of projects within these top categories.</a:t>
            </a:r>
            <a:endParaRPr lang="en-US" sz="1400" dirty="0"/>
          </a:p>
        </p:txBody>
      </p:sp>
      <p:grpSp>
        <p:nvGrpSpPr>
          <p:cNvPr id="16" name="Group 15"/>
          <p:cNvGrpSpPr/>
          <p:nvPr/>
        </p:nvGrpSpPr>
        <p:grpSpPr>
          <a:xfrm>
            <a:off x="948980" y="2648295"/>
            <a:ext cx="2590801" cy="3121552"/>
            <a:chOff x="555173" y="2820666"/>
            <a:chExt cx="2590801" cy="3121552"/>
          </a:xfrm>
        </p:grpSpPr>
        <p:sp>
          <p:nvSpPr>
            <p:cNvPr id="6" name="TextBox 5"/>
            <p:cNvSpPr txBox="1"/>
            <p:nvPr/>
          </p:nvSpPr>
          <p:spPr>
            <a:xfrm>
              <a:off x="1705222" y="2951992"/>
              <a:ext cx="1436913" cy="646331"/>
            </a:xfrm>
            <a:prstGeom prst="rect">
              <a:avLst/>
            </a:prstGeom>
            <a:noFill/>
          </p:spPr>
          <p:txBody>
            <a:bodyPr wrap="square">
              <a:spAutoFit/>
            </a:bodyPr>
            <a:lstStyle/>
            <a:p>
              <a:pPr>
                <a:spcBef>
                  <a:spcPts val="600"/>
                </a:spcBef>
              </a:pPr>
              <a:r>
                <a:rPr lang="en-US" b="1" dirty="0">
                  <a:solidFill>
                    <a:schemeClr val="bg1"/>
                  </a:solidFill>
                  <a:latin typeface="Lora" pitchFamily="2" charset="0"/>
                </a:rPr>
                <a:t>Product Design</a:t>
              </a:r>
              <a:endParaRPr lang="en-US" b="1" dirty="0">
                <a:solidFill>
                  <a:schemeClr val="bg1"/>
                </a:solidFill>
                <a:latin typeface="Lora" pitchFamily="2" charset="0"/>
              </a:endParaRPr>
            </a:p>
          </p:txBody>
        </p:sp>
        <p:sp>
          <p:nvSpPr>
            <p:cNvPr id="7" name="TextBox 6"/>
            <p:cNvSpPr txBox="1"/>
            <p:nvPr/>
          </p:nvSpPr>
          <p:spPr>
            <a:xfrm>
              <a:off x="1705222" y="4058276"/>
              <a:ext cx="1436913" cy="646331"/>
            </a:xfrm>
            <a:prstGeom prst="rect">
              <a:avLst/>
            </a:prstGeom>
            <a:noFill/>
          </p:spPr>
          <p:txBody>
            <a:bodyPr wrap="square">
              <a:spAutoFit/>
            </a:bodyPr>
            <a:lstStyle/>
            <a:p>
              <a:pPr>
                <a:spcBef>
                  <a:spcPts val="600"/>
                </a:spcBef>
              </a:pPr>
              <a:r>
                <a:rPr lang="en-US" b="1" dirty="0">
                  <a:solidFill>
                    <a:schemeClr val="bg1"/>
                  </a:solidFill>
                  <a:latin typeface="Lora" pitchFamily="2" charset="0"/>
                </a:rPr>
                <a:t>Tabletop Games</a:t>
              </a:r>
              <a:endParaRPr lang="en-US" b="1" dirty="0">
                <a:solidFill>
                  <a:schemeClr val="bg1"/>
                </a:solidFill>
                <a:latin typeface="Lora" pitchFamily="2" charset="0"/>
              </a:endParaRPr>
            </a:p>
          </p:txBody>
        </p:sp>
        <p:sp>
          <p:nvSpPr>
            <p:cNvPr id="8" name="TextBox 7"/>
            <p:cNvSpPr txBox="1"/>
            <p:nvPr/>
          </p:nvSpPr>
          <p:spPr>
            <a:xfrm>
              <a:off x="1709061" y="5300352"/>
              <a:ext cx="1436913" cy="369332"/>
            </a:xfrm>
            <a:prstGeom prst="rect">
              <a:avLst/>
            </a:prstGeom>
            <a:noFill/>
          </p:spPr>
          <p:txBody>
            <a:bodyPr wrap="square">
              <a:spAutoFit/>
            </a:bodyPr>
            <a:lstStyle/>
            <a:p>
              <a:pPr>
                <a:spcBef>
                  <a:spcPts val="600"/>
                </a:spcBef>
              </a:pPr>
              <a:r>
                <a:rPr lang="en-US" b="1" dirty="0">
                  <a:solidFill>
                    <a:schemeClr val="bg1"/>
                  </a:solidFill>
                  <a:latin typeface="Lora" pitchFamily="2" charset="0"/>
                </a:rPr>
                <a:t>Music</a:t>
              </a:r>
              <a:endParaRPr lang="en-US" b="1" dirty="0">
                <a:solidFill>
                  <a:schemeClr val="bg1"/>
                </a:solidFill>
                <a:latin typeface="Lora" pitchFamily="2" charset="0"/>
              </a:endParaRPr>
            </a:p>
          </p:txBody>
        </p:sp>
        <p:sp>
          <p:nvSpPr>
            <p:cNvPr id="10" name="Oval 9"/>
            <p:cNvSpPr/>
            <p:nvPr/>
          </p:nvSpPr>
          <p:spPr>
            <a:xfrm>
              <a:off x="555173" y="2820666"/>
              <a:ext cx="914400" cy="914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55173" y="3924242"/>
              <a:ext cx="914400" cy="9144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555173" y="5027818"/>
              <a:ext cx="914400" cy="914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555173" y="3077811"/>
              <a:ext cx="914401" cy="400110"/>
            </a:xfrm>
            <a:prstGeom prst="rect">
              <a:avLst/>
            </a:prstGeom>
            <a:noFill/>
          </p:spPr>
          <p:txBody>
            <a:bodyPr wrap="square" anchor="ctr">
              <a:spAutoFit/>
            </a:bodyPr>
            <a:lstStyle/>
            <a:p>
              <a:pPr algn="ctr">
                <a:spcBef>
                  <a:spcPts val="600"/>
                </a:spcBef>
              </a:pPr>
              <a:r>
                <a:rPr lang="en-US" sz="2000" b="1" dirty="0">
                  <a:solidFill>
                    <a:schemeClr val="bg1"/>
                  </a:solidFill>
                  <a:latin typeface="Lora" pitchFamily="2" charset="0"/>
                </a:rPr>
                <a:t>28%</a:t>
              </a:r>
              <a:endParaRPr lang="en-US" sz="2000" b="1" dirty="0">
                <a:solidFill>
                  <a:schemeClr val="bg1"/>
                </a:solidFill>
                <a:latin typeface="Lora" pitchFamily="2" charset="0"/>
              </a:endParaRPr>
            </a:p>
          </p:txBody>
        </p:sp>
        <p:sp>
          <p:nvSpPr>
            <p:cNvPr id="14" name="TextBox 13"/>
            <p:cNvSpPr txBox="1"/>
            <p:nvPr/>
          </p:nvSpPr>
          <p:spPr>
            <a:xfrm>
              <a:off x="555173" y="4181387"/>
              <a:ext cx="914401" cy="400110"/>
            </a:xfrm>
            <a:prstGeom prst="rect">
              <a:avLst/>
            </a:prstGeom>
            <a:noFill/>
          </p:spPr>
          <p:txBody>
            <a:bodyPr wrap="square" anchor="ctr">
              <a:spAutoFit/>
            </a:bodyPr>
            <a:lstStyle/>
            <a:p>
              <a:pPr algn="ctr">
                <a:spcBef>
                  <a:spcPts val="600"/>
                </a:spcBef>
              </a:pPr>
              <a:r>
                <a:rPr lang="en-US" sz="2000" b="1" dirty="0">
                  <a:solidFill>
                    <a:schemeClr val="bg1"/>
                  </a:solidFill>
                  <a:latin typeface="Lora" pitchFamily="2" charset="0"/>
                </a:rPr>
                <a:t>19%</a:t>
              </a:r>
              <a:endParaRPr lang="en-US" sz="2000" b="1" dirty="0">
                <a:solidFill>
                  <a:schemeClr val="bg1"/>
                </a:solidFill>
                <a:latin typeface="Lora" pitchFamily="2" charset="0"/>
              </a:endParaRPr>
            </a:p>
          </p:txBody>
        </p:sp>
        <p:sp>
          <p:nvSpPr>
            <p:cNvPr id="15" name="TextBox 14"/>
            <p:cNvSpPr txBox="1"/>
            <p:nvPr/>
          </p:nvSpPr>
          <p:spPr>
            <a:xfrm>
              <a:off x="555173" y="5284963"/>
              <a:ext cx="914401" cy="400110"/>
            </a:xfrm>
            <a:prstGeom prst="rect">
              <a:avLst/>
            </a:prstGeom>
            <a:noFill/>
          </p:spPr>
          <p:txBody>
            <a:bodyPr wrap="square" anchor="ctr">
              <a:spAutoFit/>
            </a:bodyPr>
            <a:lstStyle/>
            <a:p>
              <a:pPr algn="ctr">
                <a:spcBef>
                  <a:spcPts val="600"/>
                </a:spcBef>
              </a:pPr>
              <a:r>
                <a:rPr lang="en-US" sz="2000" b="1" dirty="0">
                  <a:solidFill>
                    <a:schemeClr val="bg1"/>
                  </a:solidFill>
                  <a:latin typeface="Lora" pitchFamily="2" charset="0"/>
                </a:rPr>
                <a:t>17%</a:t>
              </a:r>
              <a:endParaRPr lang="en-US" sz="2000" b="1" dirty="0">
                <a:solidFill>
                  <a:schemeClr val="bg1"/>
                </a:solidFill>
                <a:latin typeface="Lora" pitchFamily="2" charset="0"/>
              </a:endParaRPr>
            </a:p>
          </p:txBody>
        </p:sp>
      </p:grpSp>
      <p:sp>
        <p:nvSpPr>
          <p:cNvPr id="9" name="TextBox 8"/>
          <p:cNvSpPr txBox="1"/>
          <p:nvPr/>
        </p:nvSpPr>
        <p:spPr>
          <a:xfrm>
            <a:off x="653144" y="499227"/>
            <a:ext cx="6651665" cy="707886"/>
          </a:xfrm>
          <a:prstGeom prst="rect">
            <a:avLst/>
          </a:prstGeom>
          <a:noFill/>
        </p:spPr>
        <p:txBody>
          <a:bodyPr wrap="square">
            <a:spAutoFit/>
          </a:bodyPr>
          <a:lstStyle/>
          <a:p>
            <a:pPr>
              <a:spcBef>
                <a:spcPts val="600"/>
              </a:spcBef>
            </a:pPr>
            <a:r>
              <a:rPr lang="en-US" sz="4000" dirty="0">
                <a:solidFill>
                  <a:schemeClr val="bg1"/>
                </a:solidFill>
              </a:rPr>
              <a:t>CATGORIES OF PROJECTS</a:t>
            </a:r>
            <a:endParaRPr lang="en-US" sz="4000" dirty="0">
              <a:solidFill>
                <a:schemeClr val="bg1"/>
              </a:solidFill>
            </a:endParaRPr>
          </a:p>
        </p:txBody>
      </p:sp>
      <p:sp>
        <p:nvSpPr>
          <p:cNvPr id="2" name="TextBox 1"/>
          <p:cNvSpPr txBox="1"/>
          <p:nvPr/>
        </p:nvSpPr>
        <p:spPr>
          <a:xfrm>
            <a:off x="805544" y="1506146"/>
            <a:ext cx="10885712" cy="738664"/>
          </a:xfrm>
          <a:prstGeom prst="rect">
            <a:avLst/>
          </a:prstGeom>
          <a:noFill/>
        </p:spPr>
        <p:txBody>
          <a:bodyPr wrap="square">
            <a:spAutoFit/>
          </a:bodyPr>
          <a:lstStyle/>
          <a:p>
            <a:pPr>
              <a:spcBef>
                <a:spcPts val="600"/>
              </a:spcBef>
            </a:pPr>
            <a:r>
              <a:rPr lang="en-US" sz="1400" dirty="0">
                <a:solidFill>
                  <a:schemeClr val="bg1"/>
                </a:solidFill>
              </a:rPr>
              <a:t>These insights into the popularity of </a:t>
            </a:r>
            <a:r>
              <a:rPr lang="en-US" sz="1400" b="1" dirty="0">
                <a:solidFill>
                  <a:schemeClr val="bg1"/>
                </a:solidFill>
              </a:rPr>
              <a:t>Product Design</a:t>
            </a:r>
            <a:r>
              <a:rPr lang="en-US" sz="1400" dirty="0">
                <a:solidFill>
                  <a:schemeClr val="bg1"/>
                </a:solidFill>
              </a:rPr>
              <a:t>, </a:t>
            </a:r>
            <a:r>
              <a:rPr lang="en-US" sz="1400" b="1" dirty="0">
                <a:solidFill>
                  <a:schemeClr val="bg1"/>
                </a:solidFill>
              </a:rPr>
              <a:t>Tabletop Games</a:t>
            </a:r>
            <a:r>
              <a:rPr lang="en-US" sz="1400" dirty="0">
                <a:solidFill>
                  <a:schemeClr val="bg1"/>
                </a:solidFill>
              </a:rPr>
              <a:t>, and </a:t>
            </a:r>
            <a:r>
              <a:rPr lang="en-US" sz="1400" b="1" dirty="0">
                <a:solidFill>
                  <a:schemeClr val="bg1"/>
                </a:solidFill>
              </a:rPr>
              <a:t>Music</a:t>
            </a:r>
            <a:r>
              <a:rPr lang="en-US" sz="1400" dirty="0">
                <a:solidFill>
                  <a:schemeClr val="bg1"/>
                </a:solidFill>
              </a:rPr>
              <a:t> provide actionable data that can help platforms, creators, and investors better navigate the crowdfunding landscape. It allows for smarter resource allocation, targeted marketing, competitive differentiation, and the creation of supportive communities, all of which contribute to improving the success rates of projects within these top categories.</a:t>
            </a:r>
            <a:endParaRPr lang="en-US" sz="1400"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63688" y="230188"/>
            <a:ext cx="10515600" cy="1325562"/>
          </a:xfrm>
        </p:spPr>
        <p:txBody>
          <a:bodyPr rtlCol="0">
            <a:normAutofit/>
          </a:bodyPr>
          <a:lstStyle/>
          <a:p>
            <a:pPr eaLnBrk="1" fontAlgn="auto" hangingPunct="1">
              <a:spcAft>
                <a:spcPts val="0"/>
              </a:spcAft>
              <a:defRPr/>
            </a:pPr>
            <a:r>
              <a:rPr lang="en-US" sz="3600" b="1" dirty="0">
                <a:solidFill>
                  <a:schemeClr val="accent6">
                    <a:lumMod val="75000"/>
                  </a:schemeClr>
                </a:solidFill>
              </a:rPr>
              <a:t>Top 3 Projects based on Category</a:t>
            </a:r>
            <a:endParaRPr lang="en-IN" sz="3600" b="1" dirty="0">
              <a:solidFill>
                <a:schemeClr val="accent6">
                  <a:lumMod val="75000"/>
                </a:schemeClr>
              </a:solidFill>
            </a:endParaRPr>
          </a:p>
        </p:txBody>
      </p:sp>
      <p:sp>
        <p:nvSpPr>
          <p:cNvPr id="3" name="Content Placeholder 2"/>
          <p:cNvSpPr>
            <a:spLocks noGrp="1"/>
          </p:cNvSpPr>
          <p:nvPr>
            <p:ph sz="half" idx="1"/>
          </p:nvPr>
        </p:nvSpPr>
        <p:spPr>
          <a:xfrm>
            <a:off x="838200" y="1825625"/>
            <a:ext cx="5181600" cy="4359275"/>
          </a:xfrm>
        </p:spPr>
        <p:txBody>
          <a:bodyPr rtlCol="0">
            <a:normAutofit/>
          </a:bodyPr>
          <a:lstStyle/>
          <a:p>
            <a:pPr eaLnBrk="1" fontAlgn="auto" hangingPunct="1">
              <a:spcAft>
                <a:spcPts val="0"/>
              </a:spcAft>
              <a:defRPr/>
            </a:pPr>
            <a:r>
              <a:rPr lang="en-US" sz="1800" dirty="0">
                <a:solidFill>
                  <a:schemeClr val="accent1">
                    <a:lumMod val="50000"/>
                  </a:schemeClr>
                </a:solidFill>
              </a:rPr>
              <a:t>Highlighting the top 3 categories helps to identify which types of projects are most popular or successful on the platform.</a:t>
            </a:r>
            <a:endParaRPr lang="en-US" sz="1800" dirty="0">
              <a:solidFill>
                <a:schemeClr val="accent1">
                  <a:lumMod val="50000"/>
                </a:schemeClr>
              </a:solidFill>
            </a:endParaRPr>
          </a:p>
          <a:p>
            <a:pPr eaLnBrk="1" fontAlgn="auto" hangingPunct="1">
              <a:spcAft>
                <a:spcPts val="0"/>
              </a:spcAft>
              <a:defRPr/>
            </a:pPr>
            <a:r>
              <a:rPr lang="en-US" sz="1800" dirty="0">
                <a:solidFill>
                  <a:schemeClr val="accent1">
                    <a:lumMod val="50000"/>
                  </a:schemeClr>
                </a:solidFill>
              </a:rPr>
              <a:t>For platform owners or administrators, knowing the top categories  can guide where to allocate resources like marketing efforts, platform features, and creators support to maximize impact.</a:t>
            </a:r>
            <a:endParaRPr lang="en-US" sz="1800" dirty="0">
              <a:solidFill>
                <a:schemeClr val="accent1">
                  <a:lumMod val="50000"/>
                </a:schemeClr>
              </a:solidFill>
            </a:endParaRPr>
          </a:p>
          <a:p>
            <a:pPr eaLnBrk="1" fontAlgn="auto" hangingPunct="1">
              <a:spcAft>
                <a:spcPts val="0"/>
              </a:spcAft>
              <a:defRPr/>
            </a:pPr>
            <a:r>
              <a:rPr lang="en-US" sz="1800" dirty="0">
                <a:solidFill>
                  <a:schemeClr val="accent1">
                    <a:lumMod val="50000"/>
                  </a:schemeClr>
                </a:solidFill>
              </a:rPr>
              <a:t>Analyzing the top 3 categories allows stakeholders to understand current trend in the crowdfunding.</a:t>
            </a:r>
            <a:endParaRPr lang="en-IN" sz="1800" dirty="0">
              <a:solidFill>
                <a:schemeClr val="accent1">
                  <a:lumMod val="50000"/>
                </a:schemeClr>
              </a:solidFill>
            </a:endParaRPr>
          </a:p>
        </p:txBody>
      </p:sp>
      <p:pic>
        <p:nvPicPr>
          <p:cNvPr id="3076" name="Content Placeholder 5"/>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a:xfrm>
            <a:off x="6172200" y="1927225"/>
            <a:ext cx="5181600" cy="3810000"/>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850" y="636588"/>
            <a:ext cx="6963092" cy="667542"/>
          </a:xfrm>
        </p:spPr>
        <p:txBody>
          <a:bodyPr rtlCol="0">
            <a:normAutofit/>
          </a:bodyPr>
          <a:lstStyle/>
          <a:p>
            <a:pPr eaLnBrk="1" fontAlgn="auto" hangingPunct="1">
              <a:spcAft>
                <a:spcPts val="0"/>
              </a:spcAft>
              <a:defRPr/>
            </a:pPr>
            <a:r>
              <a:rPr lang="en-US" b="1" dirty="0">
                <a:solidFill>
                  <a:schemeClr val="accent6">
                    <a:lumMod val="75000"/>
                  </a:schemeClr>
                </a:solidFill>
              </a:rPr>
              <a:t>Top 3 category wise amount raised</a:t>
            </a:r>
            <a:endParaRPr lang="en-IN" b="1" dirty="0">
              <a:solidFill>
                <a:schemeClr val="accent6">
                  <a:lumMod val="75000"/>
                </a:schemeClr>
              </a:solidFill>
            </a:endParaRPr>
          </a:p>
        </p:txBody>
      </p:sp>
      <p:pic>
        <p:nvPicPr>
          <p:cNvPr id="4099" name="Content Placeholder 7"/>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7602538" y="2378075"/>
            <a:ext cx="2319337" cy="1474788"/>
          </a:xfrm>
        </p:spPr>
      </p:pic>
      <p:sp>
        <p:nvSpPr>
          <p:cNvPr id="4" name="Text Placeholder 3"/>
          <p:cNvSpPr>
            <a:spLocks noGrp="1"/>
          </p:cNvSpPr>
          <p:nvPr>
            <p:ph type="body" sz="half" idx="2"/>
          </p:nvPr>
        </p:nvSpPr>
        <p:spPr>
          <a:xfrm>
            <a:off x="679449" y="1522414"/>
            <a:ext cx="6607491" cy="4552950"/>
          </a:xfrm>
        </p:spPr>
        <p:txBody>
          <a:bodyPr rtlCol="0">
            <a:normAutofit lnSpcReduction="10000"/>
          </a:bodyPr>
          <a:lstStyle/>
          <a:p>
            <a:pPr marL="285750" indent="-285750" eaLnBrk="1" fontAlgn="auto" hangingPunct="1">
              <a:spcAft>
                <a:spcPts val="0"/>
              </a:spcAft>
              <a:buFont typeface="Arial" panose="020B0604020202020204" pitchFamily="34" charset="0"/>
              <a:buChar char="•"/>
              <a:defRPr/>
            </a:pPr>
            <a:r>
              <a:rPr lang="en-US" sz="1800" b="1" dirty="0">
                <a:solidFill>
                  <a:schemeClr val="accent3">
                    <a:lumMod val="75000"/>
                  </a:schemeClr>
                </a:solidFill>
              </a:rPr>
              <a:t>It shows which categories are not just popular in terms of number of project but also generate most funding.</a:t>
            </a:r>
            <a:endParaRPr lang="en-US" sz="1800" b="1" dirty="0">
              <a:solidFill>
                <a:schemeClr val="accent3">
                  <a:lumMod val="75000"/>
                </a:schemeClr>
              </a:solidFill>
            </a:endParaRPr>
          </a:p>
          <a:p>
            <a:pPr eaLnBrk="1" fontAlgn="auto" hangingPunct="1">
              <a:spcAft>
                <a:spcPts val="0"/>
              </a:spcAft>
              <a:defRPr/>
            </a:pPr>
            <a:endParaRPr lang="en-US" sz="1800" b="1" dirty="0">
              <a:solidFill>
                <a:schemeClr val="accent3">
                  <a:lumMod val="75000"/>
                </a:schemeClr>
              </a:solidFill>
            </a:endParaRPr>
          </a:p>
          <a:p>
            <a:pPr marL="285750" indent="-285750" eaLnBrk="1" fontAlgn="auto" hangingPunct="1">
              <a:spcAft>
                <a:spcPts val="0"/>
              </a:spcAft>
              <a:buFont typeface="Arial" panose="020B0604020202020204" pitchFamily="34" charset="0"/>
              <a:buChar char="•"/>
              <a:defRPr/>
            </a:pPr>
            <a:r>
              <a:rPr lang="en-US" sz="1800" b="1" dirty="0">
                <a:solidFill>
                  <a:schemeClr val="accent3">
                    <a:lumMod val="75000"/>
                  </a:schemeClr>
                </a:solidFill>
              </a:rPr>
              <a:t>It highlights categories that consistently raised large amounts, showing where there’s significant interest and financial traction.</a:t>
            </a:r>
            <a:endParaRPr lang="en-US" sz="1800" b="1" dirty="0">
              <a:solidFill>
                <a:schemeClr val="accent3">
                  <a:lumMod val="75000"/>
                </a:schemeClr>
              </a:solidFill>
            </a:endParaRPr>
          </a:p>
          <a:p>
            <a:pPr eaLnBrk="1" fontAlgn="auto" hangingPunct="1">
              <a:spcAft>
                <a:spcPts val="0"/>
              </a:spcAft>
              <a:defRPr/>
            </a:pPr>
            <a:endParaRPr lang="en-US" sz="1800" b="1" dirty="0">
              <a:solidFill>
                <a:schemeClr val="accent3">
                  <a:lumMod val="75000"/>
                </a:schemeClr>
              </a:solidFill>
            </a:endParaRPr>
          </a:p>
          <a:p>
            <a:pPr marL="285750" indent="-285750" eaLnBrk="1" fontAlgn="auto" hangingPunct="1">
              <a:spcAft>
                <a:spcPts val="0"/>
              </a:spcAft>
              <a:buFont typeface="Arial" panose="020B0604020202020204" pitchFamily="34" charset="0"/>
              <a:buChar char="•"/>
              <a:defRPr/>
            </a:pPr>
            <a:r>
              <a:rPr lang="en-US" sz="1800" b="1" dirty="0">
                <a:solidFill>
                  <a:schemeClr val="accent3">
                    <a:lumMod val="75000"/>
                  </a:schemeClr>
                </a:solidFill>
              </a:rPr>
              <a:t>The KPI card helps to analyze the trends in funding over a time, offering insights into how the financial landscape evolves across the categories.</a:t>
            </a:r>
            <a:endParaRPr lang="en-US" sz="1800" b="1" dirty="0">
              <a:solidFill>
                <a:schemeClr val="accent3">
                  <a:lumMod val="75000"/>
                </a:schemeClr>
              </a:solidFill>
            </a:endParaRPr>
          </a:p>
          <a:p>
            <a:pPr eaLnBrk="1" fontAlgn="auto" hangingPunct="1">
              <a:spcAft>
                <a:spcPts val="0"/>
              </a:spcAft>
              <a:defRPr/>
            </a:pPr>
            <a:endParaRPr lang="en-US" sz="1800" b="1" dirty="0">
              <a:solidFill>
                <a:schemeClr val="accent3">
                  <a:lumMod val="75000"/>
                </a:schemeClr>
              </a:solidFill>
            </a:endParaRPr>
          </a:p>
          <a:p>
            <a:pPr marL="285750" indent="-285750" eaLnBrk="1" fontAlgn="auto" hangingPunct="1">
              <a:spcAft>
                <a:spcPts val="0"/>
              </a:spcAft>
              <a:buFont typeface="Arial" panose="020B0604020202020204" pitchFamily="34" charset="0"/>
              <a:buChar char="•"/>
              <a:defRPr/>
            </a:pPr>
            <a:r>
              <a:rPr lang="en-US" sz="1800" b="1" dirty="0">
                <a:solidFill>
                  <a:schemeClr val="accent3">
                    <a:lumMod val="75000"/>
                  </a:schemeClr>
                </a:solidFill>
              </a:rPr>
              <a:t>Knowing which categories raised most funding can help prioritize resources- such as additional platform features or incentives for creators in this high performing area leading to more success and platform growth.</a:t>
            </a:r>
            <a:endParaRPr lang="en-US" sz="1800" b="1" dirty="0">
              <a:solidFill>
                <a:schemeClr val="accent3">
                  <a:lumMod val="75000"/>
                </a:schemeClr>
              </a:solidFill>
            </a:endParaRPr>
          </a:p>
          <a:p>
            <a:pPr eaLnBrk="1" fontAlgn="auto" hangingPunct="1">
              <a:spcAft>
                <a:spcPts val="0"/>
              </a:spcAft>
              <a:defRPr/>
            </a:pPr>
            <a:endParaRPr lang="en-IN" dirty="0"/>
          </a:p>
        </p:txBody>
      </p:sp>
      <p:pic>
        <p:nvPicPr>
          <p:cNvPr id="4101"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1108" y="840582"/>
            <a:ext cx="2228850" cy="1335087"/>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pic>
        <p:nvPicPr>
          <p:cNvPr id="4102"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1108" y="4257675"/>
            <a:ext cx="2319338"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TextBox 13"/>
          <p:cNvSpPr txBox="1">
            <a:spLocks noChangeArrowheads="1"/>
          </p:cNvSpPr>
          <p:nvPr/>
        </p:nvSpPr>
        <p:spPr bwMode="auto">
          <a:xfrm>
            <a:off x="10064750" y="2930525"/>
            <a:ext cx="172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t>         Music</a:t>
            </a:r>
            <a:endParaRPr lang="en-IN" altLang="en-US" sz="1800" b="1"/>
          </a:p>
        </p:txBody>
      </p:sp>
      <p:sp>
        <p:nvSpPr>
          <p:cNvPr id="4104" name="TextBox 14"/>
          <p:cNvSpPr txBox="1">
            <a:spLocks noChangeArrowheads="1"/>
          </p:cNvSpPr>
          <p:nvPr/>
        </p:nvSpPr>
        <p:spPr bwMode="auto">
          <a:xfrm>
            <a:off x="10144125" y="1152525"/>
            <a:ext cx="172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t>Product Design</a:t>
            </a:r>
            <a:endParaRPr lang="en-IN" altLang="en-US" sz="1800" b="1"/>
          </a:p>
        </p:txBody>
      </p:sp>
      <p:sp>
        <p:nvSpPr>
          <p:cNvPr id="4105" name="TextBox 15"/>
          <p:cNvSpPr txBox="1">
            <a:spLocks noChangeArrowheads="1"/>
          </p:cNvSpPr>
          <p:nvPr/>
        </p:nvSpPr>
        <p:spPr bwMode="auto">
          <a:xfrm>
            <a:off x="9980613" y="4810125"/>
            <a:ext cx="172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b="1"/>
              <a:t>Tabletop Games</a:t>
            </a:r>
            <a:endParaRPr lang="en-IN" altLang="en-US" sz="18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11440886" cy="734332"/>
          </a:xfrm>
        </p:spPr>
        <p:txBody>
          <a:bodyPr>
            <a:normAutofit/>
          </a:bodyPr>
          <a:lstStyle/>
          <a:p>
            <a:r>
              <a:rPr lang="en-US" sz="4000" dirty="0"/>
              <a:t>Top 3 Backers with Amount Raised</a:t>
            </a:r>
            <a:endParaRPr lang="en-US" sz="4000" dirty="0"/>
          </a:p>
        </p:txBody>
      </p:sp>
      <p:sp>
        <p:nvSpPr>
          <p:cNvPr id="3" name="Content Placeholder 2"/>
          <p:cNvSpPr>
            <a:spLocks noGrp="1"/>
          </p:cNvSpPr>
          <p:nvPr>
            <p:ph idx="1"/>
          </p:nvPr>
        </p:nvSpPr>
        <p:spPr>
          <a:xfrm>
            <a:off x="457200" y="1099458"/>
            <a:ext cx="11440886" cy="5393417"/>
          </a:xfrm>
        </p:spPr>
        <p:txBody>
          <a:bodyPr>
            <a:normAutofit/>
          </a:bodyPr>
          <a:lstStyle/>
          <a:p>
            <a:r>
              <a:rPr lang="en-US" sz="1800" dirty="0"/>
              <a:t>This chart highlights the top three projects based on the amount raised. The top project, Pebble Time – Awesome Smartwatch, raised 43.83% of the total pledged amount, while the next two projects, pebble and COOLEST COOLER, accounted for 27.54% and 28.63% respectively.”</a:t>
            </a:r>
            <a:endParaRPr lang="en-US" sz="1800" dirty="0"/>
          </a:p>
          <a:p>
            <a:pPr marL="0" indent="0">
              <a:buNone/>
            </a:pPr>
            <a:endParaRPr lang="en-US" sz="18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b="1" dirty="0"/>
              <a:t>Recommendation: </a:t>
            </a:r>
            <a:r>
              <a:rPr lang="en-US" sz="2000" dirty="0"/>
              <a:t>Identifying the unique features </a:t>
            </a:r>
            <a:endParaRPr lang="en-US" sz="2000" b="1" dirty="0"/>
          </a:p>
          <a:p>
            <a:pPr marL="0" indent="0">
              <a:buNone/>
            </a:pPr>
            <a:r>
              <a:rPr lang="en-US" sz="2000" dirty="0"/>
              <a:t>Or marketing strategies behind these top projects </a:t>
            </a:r>
            <a:endParaRPr lang="en-US" sz="2000" dirty="0"/>
          </a:p>
          <a:p>
            <a:pPr marL="0" indent="0">
              <a:buNone/>
            </a:pPr>
            <a:r>
              <a:rPr lang="en-US" sz="2000" dirty="0"/>
              <a:t>Could provide insights for future campaigns </a:t>
            </a:r>
            <a:endParaRPr lang="en-US" sz="2000" dirty="0"/>
          </a:p>
          <a:p>
            <a:pPr marL="0" indent="0">
              <a:buNone/>
            </a:pPr>
            <a:r>
              <a:rPr lang="en-US" sz="2000" dirty="0"/>
              <a:t>aiming to maximize pledges. </a:t>
            </a:r>
            <a:endParaRPr lang="en-US" sz="2000" dirty="0"/>
          </a:p>
        </p:txBody>
      </p:sp>
      <p:pic>
        <p:nvPicPr>
          <p:cNvPr id="8" name="Picture 7"/>
          <p:cNvPicPr>
            <a:picLocks noChangeAspect="1"/>
          </p:cNvPicPr>
          <p:nvPr/>
        </p:nvPicPr>
        <p:blipFill>
          <a:blip r:embed="rId1"/>
          <a:stretch>
            <a:fillRect/>
          </a:stretch>
        </p:blipFill>
        <p:spPr>
          <a:xfrm>
            <a:off x="5874858" y="2634343"/>
            <a:ext cx="5933965" cy="3858530"/>
          </a:xfrm>
          <a:prstGeom prst="rect">
            <a:avLst/>
          </a:prstGeom>
          <a:ln>
            <a:solidFill>
              <a:schemeClr val="tx1"/>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1"/>
          </p:nvPr>
        </p:nvSpPr>
        <p:spPr/>
        <p:txBody>
          <a:bodyPr/>
          <a:p>
            <a:fld id="{4CACFF12-D26C-453A-AA57-66631ACEB519}" type="datetimeFigureOut">
              <a:rPr lang="en-US" smtClean="0"/>
            </a:fld>
            <a:endParaRPr lang="en-US"/>
          </a:p>
        </p:txBody>
      </p:sp>
      <p:sp>
        <p:nvSpPr>
          <p:cNvPr id="8" name="Title 7"/>
          <p:cNvSpPr>
            <a:spLocks noGrp="1"/>
          </p:cNvSpPr>
          <p:nvPr>
            <p:ph type="title"/>
          </p:nvPr>
        </p:nvSpPr>
        <p:spPr/>
        <p:txBody>
          <a:bodyPr/>
          <a:p>
            <a:endParaRPr lang="en-US"/>
          </a:p>
        </p:txBody>
      </p:sp>
      <p:sp>
        <p:nvSpPr>
          <p:cNvPr id="5" name="Footer Placeholder 4"/>
          <p:cNvSpPr>
            <a:spLocks noGrp="1"/>
          </p:cNvSpPr>
          <p:nvPr>
            <p:ph type="ftr" sz="quarter" idx="12"/>
          </p:nvPr>
        </p:nvSpPr>
        <p:spPr/>
        <p:txBody>
          <a:bodyPr/>
          <a:p>
            <a:endParaRPr lang="en-US"/>
          </a:p>
        </p:txBody>
      </p:sp>
      <p:sp>
        <p:nvSpPr>
          <p:cNvPr id="6" name="Slide Number Placeholder 5"/>
          <p:cNvSpPr>
            <a:spLocks noGrp="1"/>
          </p:cNvSpPr>
          <p:nvPr>
            <p:ph type="sldNum" sz="quarter" idx="13"/>
          </p:nvPr>
        </p:nvSpPr>
        <p:spPr/>
        <p:txBody>
          <a:bodyPr/>
          <a:p>
            <a:fld id="{9C2060EF-1B72-44A2-94F7-3D29E2BC39BD}" type="slidenum">
              <a:rPr lang="en-US" smtClean="0"/>
            </a:fld>
            <a:endParaRPr lang="en-US"/>
          </a:p>
        </p:txBody>
      </p:sp>
      <p:graphicFrame>
        <p:nvGraphicFramePr>
          <p:cNvPr id="7" name="Chart Placeholder 6"/>
          <p:cNvGraphicFramePr/>
          <p:nvPr>
            <p:ph type="chart" sz="quarter" idx="10"/>
          </p:nvPr>
        </p:nvGraphicFramePr>
        <p:xfrm>
          <a:off x="952500" y="1939108"/>
          <a:ext cx="10352810" cy="4110702"/>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300" y="206375"/>
            <a:ext cx="10515600" cy="1325563"/>
          </a:xfrm>
        </p:spPr>
        <p:txBody>
          <a:bodyPr rtlCol="0">
            <a:normAutofit/>
          </a:bodyPr>
          <a:lstStyle/>
          <a:p>
            <a:pPr eaLnBrk="1" fontAlgn="auto" hangingPunct="1">
              <a:spcAft>
                <a:spcPts val="0"/>
              </a:spcAft>
              <a:defRPr/>
            </a:pPr>
            <a:r>
              <a:rPr lang="en-US" sz="4000" b="1" dirty="0">
                <a:solidFill>
                  <a:schemeClr val="accent6">
                    <a:lumMod val="75000"/>
                  </a:schemeClr>
                </a:solidFill>
              </a:rPr>
              <a:t>Total Number of Projects based on Locations</a:t>
            </a:r>
            <a:endParaRPr lang="en-IN" sz="4000" b="1" dirty="0">
              <a:solidFill>
                <a:schemeClr val="accent6">
                  <a:lumMod val="75000"/>
                </a:schemeClr>
              </a:solidFill>
            </a:endParaRPr>
          </a:p>
        </p:txBody>
      </p:sp>
      <p:pic>
        <p:nvPicPr>
          <p:cNvPr id="2051" name="Content Placeholder 5"/>
          <p:cNvPicPr>
            <a:picLocks noGrp="1" noChangeAspect="1" noChangeArrowheads="1"/>
          </p:cNvPicPr>
          <p:nvPr>
            <p:ph sz="half" idx="1"/>
          </p:nvPr>
        </p:nvPicPr>
        <p:blipFill>
          <a:blip r:embed="rId1">
            <a:extLst>
              <a:ext uri="{28A0092B-C50C-407E-A947-70E740481C1C}">
                <a14:useLocalDpi xmlns:a14="http://schemas.microsoft.com/office/drawing/2010/main" val="0"/>
              </a:ext>
            </a:extLst>
          </a:blip>
          <a:srcRect/>
          <a:stretch>
            <a:fillRect/>
          </a:stretch>
        </p:blipFill>
        <p:spPr>
          <a:xfrm>
            <a:off x="838200" y="1514475"/>
            <a:ext cx="5181600" cy="3917950"/>
          </a:xfrm>
        </p:spPr>
      </p:pic>
      <p:sp>
        <p:nvSpPr>
          <p:cNvPr id="4" name="Content Placeholder 3"/>
          <p:cNvSpPr>
            <a:spLocks noGrp="1"/>
          </p:cNvSpPr>
          <p:nvPr>
            <p:ph sz="half" idx="2"/>
          </p:nvPr>
        </p:nvSpPr>
        <p:spPr>
          <a:xfrm>
            <a:off x="6172200" y="1514475"/>
            <a:ext cx="5181600" cy="4859338"/>
          </a:xfrm>
        </p:spPr>
        <p:txBody>
          <a:bodyPr rtlCol="0">
            <a:normAutofit/>
          </a:bodyPr>
          <a:lstStyle/>
          <a:p>
            <a:pPr eaLnBrk="1" fontAlgn="auto" hangingPunct="1">
              <a:spcAft>
                <a:spcPts val="0"/>
              </a:spcAft>
              <a:defRPr/>
            </a:pPr>
            <a:r>
              <a:rPr lang="en-US" sz="1800" dirty="0">
                <a:solidFill>
                  <a:schemeClr val="accent1">
                    <a:lumMod val="75000"/>
                  </a:schemeClr>
                </a:solidFill>
              </a:rPr>
              <a:t>This can reveal where the platform is most  popular and where growth opportunities exist, helping  to understand geographic trends.</a:t>
            </a:r>
            <a:endParaRPr lang="en-IN" sz="1800" dirty="0">
              <a:solidFill>
                <a:schemeClr val="accent1">
                  <a:lumMod val="75000"/>
                </a:schemeClr>
              </a:solidFill>
            </a:endParaRPr>
          </a:p>
          <a:p>
            <a:pPr eaLnBrk="1" fontAlgn="auto" hangingPunct="1">
              <a:spcAft>
                <a:spcPts val="0"/>
              </a:spcAft>
              <a:defRPr/>
            </a:pPr>
            <a:r>
              <a:rPr lang="en-US" sz="1800" dirty="0">
                <a:solidFill>
                  <a:schemeClr val="accent1">
                    <a:lumMod val="75000"/>
                  </a:schemeClr>
                </a:solidFill>
              </a:rPr>
              <a:t>For platform owners, Knowing which location have fewer projects can highlight untapped market.</a:t>
            </a:r>
            <a:endParaRPr lang="en-US" sz="1800" dirty="0">
              <a:solidFill>
                <a:schemeClr val="accent1">
                  <a:lumMod val="75000"/>
                </a:schemeClr>
              </a:solidFill>
            </a:endParaRPr>
          </a:p>
          <a:p>
            <a:pPr eaLnBrk="1" fontAlgn="auto" hangingPunct="1">
              <a:spcAft>
                <a:spcPts val="0"/>
              </a:spcAft>
              <a:defRPr/>
            </a:pPr>
            <a:r>
              <a:rPr lang="en-US" sz="1800" dirty="0">
                <a:solidFill>
                  <a:schemeClr val="accent1">
                    <a:lumMod val="75000"/>
                  </a:schemeClr>
                </a:solidFill>
              </a:rPr>
              <a:t>Platform can use  location data to allocate resources efficiently.</a:t>
            </a:r>
            <a:endParaRPr lang="en-US" sz="1800" dirty="0">
              <a:solidFill>
                <a:schemeClr val="accent1">
                  <a:lumMod val="75000"/>
                </a:schemeClr>
              </a:solidFill>
            </a:endParaRPr>
          </a:p>
          <a:p>
            <a:pPr eaLnBrk="1" fontAlgn="auto" hangingPunct="1">
              <a:spcAft>
                <a:spcPts val="0"/>
              </a:spcAft>
              <a:defRPr/>
            </a:pPr>
            <a:r>
              <a:rPr lang="en-US" sz="1800" dirty="0">
                <a:solidFill>
                  <a:schemeClr val="accent1">
                    <a:lumMod val="75000"/>
                  </a:schemeClr>
                </a:solidFill>
              </a:rPr>
              <a:t>It can help to creators or marketers to understand where to target potential  </a:t>
            </a:r>
            <a:endParaRPr lang="en-US" sz="1800" dirty="0">
              <a:solidFill>
                <a:schemeClr val="accent1">
                  <a:lumMod val="75000"/>
                </a:schemeClr>
              </a:solidFill>
            </a:endParaRPr>
          </a:p>
          <a:p>
            <a:pPr eaLnBrk="1" fontAlgn="auto" hangingPunct="1">
              <a:spcAft>
                <a:spcPts val="0"/>
              </a:spcAft>
              <a:defRPr/>
            </a:pPr>
            <a:r>
              <a:rPr lang="en-US" sz="1800" dirty="0">
                <a:solidFill>
                  <a:schemeClr val="accent1">
                    <a:lumMod val="75000"/>
                  </a:schemeClr>
                </a:solidFill>
              </a:rPr>
              <a:t>Backers.</a:t>
            </a:r>
            <a:endParaRPr lang="en-US" sz="1800" dirty="0">
              <a:solidFill>
                <a:schemeClr val="accent1">
                  <a:lumMod val="75000"/>
                </a:schemeClr>
              </a:solidFill>
            </a:endParaRPr>
          </a:p>
          <a:p>
            <a:pPr eaLnBrk="1" fontAlgn="auto" hangingPunct="1">
              <a:spcAft>
                <a:spcPts val="0"/>
              </a:spcAft>
              <a:defRPr/>
            </a:pPr>
            <a:r>
              <a:rPr lang="en-US" sz="1800" dirty="0">
                <a:solidFill>
                  <a:schemeClr val="accent1">
                    <a:lumMod val="75000"/>
                  </a:schemeClr>
                </a:solidFill>
              </a:rPr>
              <a:t>Showing the distribution of projects by location highlights the platforms global reach and diversity.</a:t>
            </a:r>
            <a:endParaRPr lang="en-US" sz="1800" dirty="0">
              <a:solidFill>
                <a:schemeClr val="accent1">
                  <a:lumMod val="7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6361"/>
          </a:xfrm>
        </p:spPr>
        <p:txBody>
          <a:bodyPr>
            <a:normAutofit fontScale="90000"/>
          </a:bodyPr>
          <a:lstStyle/>
          <a:p>
            <a:r>
              <a:rPr lang="en-US" dirty="0"/>
              <a:t>State-Wise Amount Raised</a:t>
            </a:r>
            <a:endParaRPr lang="en-US" dirty="0"/>
          </a:p>
        </p:txBody>
      </p:sp>
      <p:sp>
        <p:nvSpPr>
          <p:cNvPr id="3" name="Content Placeholder 2"/>
          <p:cNvSpPr>
            <a:spLocks noGrp="1"/>
          </p:cNvSpPr>
          <p:nvPr>
            <p:ph idx="1"/>
          </p:nvPr>
        </p:nvSpPr>
        <p:spPr>
          <a:xfrm>
            <a:off x="215557" y="1001486"/>
            <a:ext cx="11856699" cy="5758543"/>
          </a:xfrm>
        </p:spPr>
        <p:txBody>
          <a:bodyPr>
            <a:normAutofit/>
          </a:bodyPr>
          <a:lstStyle/>
          <a:p>
            <a:endParaRPr lang="en-US" sz="1800" dirty="0"/>
          </a:p>
          <a:p>
            <a:r>
              <a:rPr lang="en-US" sz="1800" dirty="0"/>
              <a:t>“This chart breaks down the percentage of the total goal amount raised by the state by the state of the projects. A significant portion , about 70.21%, have not  to reach their funding goals.”</a:t>
            </a:r>
            <a:endParaRPr lang="en-US" sz="1800" dirty="0"/>
          </a:p>
          <a:p>
            <a:r>
              <a:rPr lang="en-US" sz="1800" dirty="0"/>
              <a:t>Only 9.38% of the total amount was raised by successful projects, highlighting the difficulty in achieving project success on the platform” . </a:t>
            </a:r>
            <a:endParaRPr lang="en-US" sz="1800" dirty="0"/>
          </a:p>
          <a:p>
            <a:pPr marL="0" indent="0">
              <a:buNone/>
            </a:pPr>
            <a:endParaRPr lang="en-US" sz="1800" dirty="0"/>
          </a:p>
          <a:p>
            <a:pPr marL="0" indent="0">
              <a:buNone/>
            </a:pPr>
            <a:endParaRPr lang="en-US" sz="1800" dirty="0"/>
          </a:p>
          <a:p>
            <a:pPr marL="0" indent="0">
              <a:buNone/>
            </a:pPr>
            <a:r>
              <a:rPr lang="en-US" sz="2000" b="1" dirty="0"/>
              <a:t>Recommendation : </a:t>
            </a:r>
            <a:r>
              <a:rPr lang="en-US" sz="2000" dirty="0"/>
              <a:t>It may be worth investigating why </a:t>
            </a:r>
            <a:endParaRPr lang="en-US" sz="2000" dirty="0"/>
          </a:p>
          <a:p>
            <a:pPr marL="0" indent="0">
              <a:buNone/>
            </a:pPr>
            <a:r>
              <a:rPr lang="en-US" sz="2000" dirty="0"/>
              <a:t>Such a high percentage of project loss .Improved project</a:t>
            </a:r>
            <a:endParaRPr lang="en-US" sz="2000" dirty="0"/>
          </a:p>
          <a:p>
            <a:pPr marL="0" indent="0">
              <a:buNone/>
            </a:pPr>
            <a:r>
              <a:rPr lang="en-US" sz="2000" dirty="0"/>
              <a:t>Planning, marketing efforts, or goal – setting strategies </a:t>
            </a:r>
            <a:endParaRPr lang="en-US" sz="2000" dirty="0"/>
          </a:p>
          <a:p>
            <a:pPr marL="0" indent="0">
              <a:buNone/>
            </a:pPr>
            <a:r>
              <a:rPr lang="en-US" sz="2000" dirty="0"/>
              <a:t>Could help increase success rates.</a:t>
            </a:r>
            <a:endParaRPr lang="en-US" sz="2000" dirty="0"/>
          </a:p>
        </p:txBody>
      </p:sp>
      <p:pic>
        <p:nvPicPr>
          <p:cNvPr id="6" name="Picture 5"/>
          <p:cNvPicPr>
            <a:picLocks noChangeAspect="1"/>
          </p:cNvPicPr>
          <p:nvPr/>
        </p:nvPicPr>
        <p:blipFill>
          <a:blip r:embed="rId1"/>
          <a:stretch>
            <a:fillRect/>
          </a:stretch>
        </p:blipFill>
        <p:spPr>
          <a:xfrm>
            <a:off x="6134100" y="2416629"/>
            <a:ext cx="5842343" cy="4167414"/>
          </a:xfrm>
          <a:prstGeom prst="rect">
            <a:avLst/>
          </a:prstGeom>
          <a:ln>
            <a:solidFill>
              <a:schemeClr val="tx1"/>
            </a:solid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2291" y="206645"/>
            <a:ext cx="8911687" cy="672921"/>
          </a:xfrm>
        </p:spPr>
        <p:txBody>
          <a:bodyPr>
            <a:normAutofit fontScale="90000"/>
          </a:bodyPr>
          <a:lstStyle/>
          <a:p>
            <a:r>
              <a:rPr lang="en-IN" b="1" dirty="0"/>
              <a:t>Data Visualization with Power BI</a:t>
            </a:r>
            <a:endParaRPr lang="en-IN" dirty="0"/>
          </a:p>
        </p:txBody>
      </p:sp>
      <p:pic>
        <p:nvPicPr>
          <p:cNvPr id="8" name="Picture 7"/>
          <p:cNvPicPr>
            <a:picLocks noChangeAspect="1"/>
          </p:cNvPicPr>
          <p:nvPr/>
        </p:nvPicPr>
        <p:blipFill rotWithShape="1">
          <a:blip r:embed="rId1">
            <a:extLst>
              <a:ext uri="{BEBA8EAE-BF5A-486C-A8C5-ECC9F3942E4B}">
                <a14:imgProps xmlns:a14="http://schemas.microsoft.com/office/drawing/2010/main">
                  <a14:imgLayer r:embed="rId2">
                    <a14:imgEffect>
                      <a14:sharpenSoften amount="50000"/>
                    </a14:imgEffect>
                  </a14:imgLayer>
                </a14:imgProps>
              </a:ext>
            </a:extLst>
          </a:blip>
          <a:srcRect l="2931" t="21855" r="25299" b="15464"/>
          <a:stretch>
            <a:fillRect/>
          </a:stretch>
        </p:blipFill>
        <p:spPr bwMode="auto">
          <a:xfrm>
            <a:off x="750894" y="1056810"/>
            <a:ext cx="10960890" cy="5801190"/>
          </a:xfrm>
          <a:prstGeom prst="rect">
            <a:avLst/>
          </a:prstGeom>
          <a:ln w="28575" cmpd="dbl">
            <a:solidFill>
              <a:schemeClr val="tx1"/>
            </a:solid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noChangeArrowheads="1"/>
          </p:cNvSpPr>
          <p:nvPr>
            <p:ph type="title"/>
          </p:nvPr>
        </p:nvSpPr>
        <p:spPr>
          <a:xfrm>
            <a:off x="952500" y="82550"/>
            <a:ext cx="10401300" cy="823141"/>
          </a:xfrm>
        </p:spPr>
        <p:txBody>
          <a:bodyPr/>
          <a:lstStyle/>
          <a:p>
            <a:pPr algn="ctr" eaLnBrk="1" hangingPunct="1"/>
            <a:r>
              <a:rPr lang="en-US" altLang="en-US" b="1" dirty="0">
                <a:solidFill>
                  <a:schemeClr val="accent3"/>
                </a:solidFill>
              </a:rPr>
              <a:t>Data visualization by Tableau</a:t>
            </a:r>
            <a:endParaRPr lang="en-IN" altLang="en-US" b="1" dirty="0">
              <a:solidFill>
                <a:schemeClr val="accent3"/>
              </a:solidFill>
            </a:endParaRPr>
          </a:p>
        </p:txBody>
      </p:sp>
      <p:pic>
        <p:nvPicPr>
          <p:cNvPr id="5123" name="Content Placeholder 4"/>
          <p:cNvPicPr>
            <a:picLocks noGrp="1" noChangeAspect="1" noChangeArrowheads="1"/>
          </p:cNvPicPr>
          <p:nvPr>
            <p:ph idx="1"/>
          </p:nvPr>
        </p:nvPicPr>
        <p:blipFill>
          <a:blip r:embed="rId1">
            <a:extLst>
              <a:ext uri="{BEBA8EAE-BF5A-486C-A8C5-ECC9F3942E4B}">
                <a14:imgProps xmlns:a14="http://schemas.microsoft.com/office/drawing/2010/main">
                  <a14:imgLayer r:embed="rId2">
                    <a14:imgEffect>
                      <a14:sharpenSoften amount="50000"/>
                    </a14:imgEffect>
                  </a14:imgLayer>
                </a14:imgProps>
              </a:ext>
              <a:ext uri="{28A0092B-C50C-407E-A947-70E740481C1C}">
                <a14:useLocalDpi xmlns:a14="http://schemas.microsoft.com/office/drawing/2010/main" val="0"/>
              </a:ext>
            </a:extLst>
          </a:blip>
          <a:srcRect/>
          <a:stretch>
            <a:fillRect/>
          </a:stretch>
        </p:blipFill>
        <p:spPr>
          <a:xfrm>
            <a:off x="838201" y="801189"/>
            <a:ext cx="10401300" cy="5817325"/>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noChangeArrowheads="1"/>
          </p:cNvSpPr>
          <p:nvPr>
            <p:ph type="title"/>
          </p:nvPr>
        </p:nvSpPr>
        <p:spPr/>
        <p:txBody>
          <a:bodyPr/>
          <a:lstStyle/>
          <a:p>
            <a:pPr algn="ctr" eaLnBrk="1" hangingPunct="1"/>
            <a:r>
              <a:rPr lang="en-US" altLang="en-US" b="1" dirty="0">
                <a:solidFill>
                  <a:srgbClr val="00B050"/>
                </a:solidFill>
              </a:rPr>
              <a:t>Data visualization by </a:t>
            </a:r>
            <a:r>
              <a:rPr lang="en-US" altLang="en-US" dirty="0">
                <a:solidFill>
                  <a:srgbClr val="00B050"/>
                </a:solidFill>
              </a:rPr>
              <a:t>Excel</a:t>
            </a:r>
            <a:endParaRPr lang="en-IN" altLang="en-US" b="1" dirty="0">
              <a:solidFill>
                <a:srgbClr val="00B050"/>
              </a:solidFill>
            </a:endParaRPr>
          </a:p>
        </p:txBody>
      </p:sp>
      <p:pic>
        <p:nvPicPr>
          <p:cNvPr id="7" name="Content Placeholder 6"/>
          <p:cNvPicPr>
            <a:picLocks noGrp="1" noChangeAspect="1"/>
          </p:cNvPicPr>
          <p:nvPr>
            <p:ph idx="1"/>
          </p:nvPr>
        </p:nvPicPr>
        <p:blipFill rotWithShape="1">
          <a:blip r:embed="rId1"/>
          <a:srcRect l="1064" t="26165" r="-1" b="26396"/>
          <a:stretch>
            <a:fillRect/>
          </a:stretch>
        </p:blipFill>
        <p:spPr bwMode="auto">
          <a:xfrm>
            <a:off x="574766" y="1408176"/>
            <a:ext cx="11321141" cy="5303520"/>
          </a:xfrm>
          <a:prstGeom prst="rect">
            <a:avLst/>
          </a:prstGeom>
          <a:ln>
            <a:solidFill>
              <a:schemeClr val="tx1"/>
            </a:solidFill>
          </a:ln>
        </p:spPr>
      </p:pic>
      <p:sp>
        <p:nvSpPr>
          <p:cNvPr id="8" name="Rectangle 7"/>
          <p:cNvSpPr/>
          <p:nvPr/>
        </p:nvSpPr>
        <p:spPr>
          <a:xfrm>
            <a:off x="2734491" y="3317966"/>
            <a:ext cx="1384664" cy="28738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solidFill>
                  <a:schemeClr val="tx1">
                    <a:lumMod val="50000"/>
                  </a:schemeClr>
                </a:solidFill>
              </a:rPr>
              <a:t>Total no of projects by quarter</a:t>
            </a:r>
            <a:endParaRPr lang="en-GB" sz="1100" dirty="0">
              <a:solidFill>
                <a:schemeClr val="tx1">
                  <a:lumMod val="50000"/>
                </a:schemeClr>
              </a:solidFill>
            </a:endParaRPr>
          </a:p>
        </p:txBody>
      </p:sp>
      <p:sp>
        <p:nvSpPr>
          <p:cNvPr id="9" name="Rectangle 8"/>
          <p:cNvSpPr/>
          <p:nvPr/>
        </p:nvSpPr>
        <p:spPr>
          <a:xfrm>
            <a:off x="4450080" y="2908663"/>
            <a:ext cx="1942011" cy="26996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GB" sz="1000" dirty="0">
                <a:solidFill>
                  <a:schemeClr val="tx1">
                    <a:lumMod val="50000"/>
                  </a:schemeClr>
                </a:solidFill>
              </a:rPr>
              <a:t>Total number of projects by month</a:t>
            </a:r>
            <a:endParaRPr lang="en-GB" sz="1000" dirty="0">
              <a:solidFill>
                <a:schemeClr val="tx1">
                  <a:lumMod val="50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noChangeArrowheads="1"/>
          </p:cNvSpPr>
          <p:nvPr>
            <p:ph type="title"/>
          </p:nvPr>
        </p:nvSpPr>
        <p:spPr>
          <a:xfrm>
            <a:off x="488950" y="347664"/>
            <a:ext cx="10515600" cy="474270"/>
          </a:xfrm>
        </p:spPr>
        <p:txBody>
          <a:bodyPr>
            <a:normAutofit fontScale="90000"/>
          </a:bodyPr>
          <a:lstStyle/>
          <a:p>
            <a:pPr algn="ctr" eaLnBrk="1" hangingPunct="1"/>
            <a:r>
              <a:rPr lang="en-US" altLang="en-US" b="1" dirty="0">
                <a:solidFill>
                  <a:srgbClr val="00B050"/>
                </a:solidFill>
              </a:rPr>
              <a:t>SQL QUERIES</a:t>
            </a:r>
            <a:endParaRPr lang="en-IN" altLang="en-US" b="1" dirty="0">
              <a:solidFill>
                <a:srgbClr val="00B050"/>
              </a:solidFill>
            </a:endParaRPr>
          </a:p>
        </p:txBody>
      </p:sp>
      <p:pic>
        <p:nvPicPr>
          <p:cNvPr id="6147" name="Content Placeholder 4"/>
          <p:cNvPicPr>
            <a:picLocks noGrp="1" noChangeAspect="1" noChangeArrowheads="1"/>
          </p:cNvPicPr>
          <p:nvPr>
            <p:ph idx="1"/>
          </p:nvPr>
        </p:nvPicPr>
        <p:blipFill rotWithShape="1">
          <a:blip r:embed="rId1">
            <a:extLst>
              <a:ext uri="{BEBA8EAE-BF5A-486C-A8C5-ECC9F3942E4B}">
                <a14:imgProps xmlns:a14="http://schemas.microsoft.com/office/drawing/2010/main">
                  <a14:imgLayer r:embed="rId2">
                    <a14:imgEffect>
                      <a14:sharpenSoften amount="50000"/>
                    </a14:imgEffect>
                  </a14:imgLayer>
                </a14:imgProps>
              </a:ext>
              <a:ext uri="{28A0092B-C50C-407E-A947-70E740481C1C}">
                <a14:useLocalDpi xmlns:a14="http://schemas.microsoft.com/office/drawing/2010/main" val="0"/>
              </a:ext>
            </a:extLst>
          </a:blip>
          <a:srcRect t="8801" r="8801"/>
          <a:stretch>
            <a:fillRect/>
          </a:stretch>
        </p:blipFill>
        <p:spPr>
          <a:xfrm>
            <a:off x="227784" y="1085941"/>
            <a:ext cx="5751513" cy="5567363"/>
          </a:xfrm>
          <a:ln w="28575" cmpd="dbl">
            <a:solidFill>
              <a:schemeClr val="bg1"/>
            </a:solidFill>
          </a:ln>
        </p:spPr>
      </p:pic>
      <p:pic>
        <p:nvPicPr>
          <p:cNvPr id="6148" name="Picture 6"/>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6096000" y="1050222"/>
            <a:ext cx="6043613" cy="5638800"/>
          </a:xfrm>
          <a:prstGeom prst="rect">
            <a:avLst/>
          </a:prstGeom>
          <a:noFill/>
          <a:ln w="28575" cmpd="dbl">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1">
            <a:extLst>
              <a:ext uri="{BEBA8EAE-BF5A-486C-A8C5-ECC9F3942E4B}">
                <a14:imgProps xmlns:a14="http://schemas.microsoft.com/office/drawing/2010/main">
                  <a14:imgLayer r:embed="rId2">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37465" y="0"/>
            <a:ext cx="5209403" cy="6770670"/>
          </a:xfrm>
          <a:prstGeom prst="rect">
            <a:avLst/>
          </a:prstGeom>
          <a:noFill/>
          <a:ln w="28575" cmpd="dbl">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7171"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3198" b="1415"/>
          <a:stretch>
            <a:fillRect/>
          </a:stretch>
        </p:blipFill>
        <p:spPr bwMode="auto">
          <a:xfrm>
            <a:off x="5538652" y="0"/>
            <a:ext cx="6540138" cy="3534309"/>
          </a:xfrm>
          <a:prstGeom prst="rect">
            <a:avLst/>
          </a:prstGeom>
          <a:noFill/>
          <a:ln w="38100" cmpd="dbl">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7172" name="Picture 6"/>
          <p:cNvPicPr>
            <a:picLocks noChangeAspect="1" noChangeArrowheads="1"/>
          </p:cNvPicPr>
          <p:nvPr/>
        </p:nvPicPr>
        <p:blipFill rotWithShape="1">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rcRect l="3902"/>
          <a:stretch>
            <a:fillRect/>
          </a:stretch>
        </p:blipFill>
        <p:spPr bwMode="auto">
          <a:xfrm>
            <a:off x="5538653" y="3621088"/>
            <a:ext cx="6653348" cy="3149582"/>
          </a:xfrm>
          <a:prstGeom prst="rect">
            <a:avLst/>
          </a:prstGeom>
          <a:noFill/>
          <a:ln w="38100" cmpd="dbl">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4501243" cy="6932022"/>
          </a:xfrm>
          <a:prstGeom prst="rect">
            <a:avLst/>
          </a:prstGeom>
        </p:spPr>
      </p:pic>
      <p:sp>
        <p:nvSpPr>
          <p:cNvPr id="16" name="TextBox 15"/>
          <p:cNvSpPr txBox="1"/>
          <p:nvPr/>
        </p:nvSpPr>
        <p:spPr>
          <a:xfrm>
            <a:off x="4563292" y="99208"/>
            <a:ext cx="7628708" cy="6740307"/>
          </a:xfrm>
          <a:prstGeom prst="rect">
            <a:avLst/>
          </a:prstGeom>
          <a:noFill/>
        </p:spPr>
        <p:txBody>
          <a:bodyPr wrap="square">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18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The crowdfunding dashboard provides a comprehensive overview of key project metrics, highlighting the total amount raised, success rates, and the number of backers. Overall, the platform has raised an impressive $2.67 billion, with 39.11% of projects achieving successful outcomes, supported by a total of 26.23 million backers. The average duration of these projects was around 81.8 days. Notably, top projects, such as </a:t>
            </a:r>
            <a:r>
              <a:rPr kumimoji="0" lang="en-US" altLang="en-US" sz="1800" b="0" i="1"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Exploding Kittens</a:t>
            </a:r>
            <a:r>
              <a:rPr kumimoji="0" lang="en-US" altLang="en-US" sz="18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with 219.93K backers, and </a:t>
            </a:r>
            <a:r>
              <a:rPr kumimoji="0" lang="en-US" altLang="en-US" sz="1800" b="0" i="1"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Fidget Cube</a:t>
            </a:r>
            <a:r>
              <a:rPr kumimoji="0" lang="en-US" altLang="en-US" sz="18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with 154.93K backers, stand out as some of the most successful campaigns.</a:t>
            </a:r>
            <a:endParaRPr kumimoji="0" lang="en-US" altLang="en-US" sz="18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18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In terms of project outcomes, the majority of projects encountered failure, with 96.21K failing to reach their goals, 16.45 K being canceled, and 0.47K being suspended. Interestingly, only a small fraction of projects (0.10K) were purged. Most campaigns aimed for modest funding, with 48.13% of projects raising up to $5K and 40.75% raising between $5K and $10K. Larger funding goals were less common, with only 10.10% of projects exceeding $100K.</a:t>
            </a:r>
            <a:endParaRPr kumimoji="0" lang="en-US" altLang="en-US" sz="18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18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Geographically, the United States dominates the crowdfunding landscape, with 146.41K projects launched, followed by Canada with 7.11K. The distribution of projects over time shows a peak in 2013 and 2014, where project creation surged to 25K–28K annually. However, the numbers declined in subsequent years, stabilizing around 21K–23K projects per year. The data also reveals interesting insights into the types of projects being funded, with the most popular categories including Games (22.7K projects), Technology (15.6K), and Music (15.19K).</a:t>
            </a:r>
            <a:endParaRPr kumimoji="0" lang="en-US" altLang="en-US" sz="18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492141" y="424934"/>
            <a:ext cx="6096000" cy="646331"/>
          </a:xfrm>
          <a:prstGeom prst="rect">
            <a:avLst/>
          </a:prstGeom>
          <a:noFill/>
        </p:spPr>
        <p:txBody>
          <a:bodyPr wrap="square">
            <a:spAutoFit/>
          </a:bodyPr>
          <a:lstStyle/>
          <a:p>
            <a:pPr algn="ctr"/>
            <a:r>
              <a:rPr lang="en-US" sz="3600" b="1" dirty="0">
                <a:solidFill>
                  <a:srgbClr val="00B050"/>
                </a:solidFill>
              </a:rPr>
              <a:t>Challenges </a:t>
            </a:r>
            <a:endParaRPr lang="en-GB" sz="3600" dirty="0"/>
          </a:p>
        </p:txBody>
      </p:sp>
      <p:sp>
        <p:nvSpPr>
          <p:cNvPr id="7" name="TextBox 6"/>
          <p:cNvSpPr txBox="1"/>
          <p:nvPr/>
        </p:nvSpPr>
        <p:spPr>
          <a:xfrm>
            <a:off x="326701" y="948690"/>
            <a:ext cx="11865299" cy="5632311"/>
          </a:xfrm>
          <a:prstGeom prst="rect">
            <a:avLst/>
          </a:prstGeom>
          <a:noFill/>
        </p:spPr>
        <p:txBody>
          <a:bodyPr wrap="none" rtlCol="0">
            <a:spAutoFit/>
          </a:bodyPr>
          <a:lstStyle/>
          <a:p>
            <a:r>
              <a:rPr lang="en-GB" dirty="0">
                <a:solidFill>
                  <a:srgbClr val="FF0000"/>
                </a:solidFill>
              </a:rPr>
              <a:t>Challenge </a:t>
            </a:r>
            <a:r>
              <a:rPr lang="en-GB" dirty="0">
                <a:solidFill>
                  <a:schemeClr val="bg1"/>
                </a:solidFill>
              </a:rPr>
              <a:t>   : Excel was too slow the data when working with large  amount of data.</a:t>
            </a:r>
            <a:endParaRPr lang="en-GB" dirty="0">
              <a:solidFill>
                <a:schemeClr val="bg1"/>
              </a:solidFill>
            </a:endParaRPr>
          </a:p>
          <a:p>
            <a:r>
              <a:rPr lang="en-GB" dirty="0">
                <a:solidFill>
                  <a:schemeClr val="bg1"/>
                </a:solidFill>
              </a:rPr>
              <a:t>what we did: We moved the data to MYSQL for better storage and used power and , Tableau to </a:t>
            </a:r>
            <a:endParaRPr lang="en-GB" dirty="0">
              <a:solidFill>
                <a:schemeClr val="bg1"/>
              </a:solidFill>
            </a:endParaRPr>
          </a:p>
          <a:p>
            <a:r>
              <a:rPr lang="en-GB" dirty="0">
                <a:solidFill>
                  <a:schemeClr val="bg1"/>
                </a:solidFill>
              </a:rPr>
              <a:t>make faster and more interactive charts.</a:t>
            </a:r>
            <a:endParaRPr lang="en-GB" dirty="0">
              <a:solidFill>
                <a:schemeClr val="bg1"/>
              </a:solidFill>
            </a:endParaRPr>
          </a:p>
          <a:p>
            <a:endParaRPr lang="en-GB" dirty="0">
              <a:solidFill>
                <a:schemeClr val="bg1"/>
              </a:solidFill>
            </a:endParaRPr>
          </a:p>
          <a:p>
            <a:r>
              <a:rPr lang="en-GB" dirty="0">
                <a:solidFill>
                  <a:srgbClr val="FF0000"/>
                </a:solidFill>
              </a:rPr>
              <a:t>Challenge :</a:t>
            </a:r>
            <a:r>
              <a:rPr lang="en-GB" dirty="0">
                <a:solidFill>
                  <a:schemeClr val="bg1"/>
                </a:solidFill>
              </a:rPr>
              <a:t>The dashboard was slow because of complicated  calculations in power BI</a:t>
            </a:r>
            <a:endParaRPr lang="en-GB" dirty="0">
              <a:solidFill>
                <a:schemeClr val="bg1"/>
              </a:solidFill>
            </a:endParaRPr>
          </a:p>
          <a:p>
            <a:r>
              <a:rPr lang="en-GB" dirty="0">
                <a:solidFill>
                  <a:schemeClr val="bg1"/>
                </a:solidFill>
              </a:rPr>
              <a:t>What we did: we simplified the calculations and prepared the data MYSQL to make the dashboard load faster</a:t>
            </a:r>
            <a:endParaRPr lang="en-GB" dirty="0">
              <a:solidFill>
                <a:schemeClr val="bg1"/>
              </a:solidFill>
            </a:endParaRPr>
          </a:p>
          <a:p>
            <a:endParaRPr lang="en-GB" dirty="0">
              <a:solidFill>
                <a:schemeClr val="bg1"/>
              </a:solidFill>
            </a:endParaRPr>
          </a:p>
          <a:p>
            <a:r>
              <a:rPr lang="en-GB" dirty="0">
                <a:solidFill>
                  <a:srgbClr val="FF0000"/>
                </a:solidFill>
              </a:rPr>
              <a:t>Challenge</a:t>
            </a:r>
            <a:r>
              <a:rPr lang="en-GB" dirty="0">
                <a:solidFill>
                  <a:schemeClr val="bg1"/>
                </a:solidFill>
              </a:rPr>
              <a:t> :Handling Missing data some records in my data or data set  had missing dates, which could affect the</a:t>
            </a:r>
            <a:endParaRPr lang="en-GB" dirty="0">
              <a:solidFill>
                <a:schemeClr val="bg1"/>
              </a:solidFill>
            </a:endParaRPr>
          </a:p>
          <a:p>
            <a:r>
              <a:rPr lang="en-GB" dirty="0">
                <a:solidFill>
                  <a:schemeClr val="bg1"/>
                </a:solidFill>
              </a:rPr>
              <a:t>                     accuracy of the analysis.</a:t>
            </a:r>
            <a:endParaRPr lang="en-GB" dirty="0">
              <a:solidFill>
                <a:schemeClr val="bg1"/>
              </a:solidFill>
            </a:endParaRPr>
          </a:p>
          <a:p>
            <a:r>
              <a:rPr lang="en-GB" dirty="0">
                <a:solidFill>
                  <a:schemeClr val="bg1"/>
                </a:solidFill>
              </a:rPr>
              <a:t> what we did: To fix this , we filled the missing date fields  with a  common  reference date , ensuring consistency, across </a:t>
            </a:r>
            <a:endParaRPr lang="en-GB" dirty="0">
              <a:solidFill>
                <a:schemeClr val="bg1"/>
              </a:solidFill>
            </a:endParaRPr>
          </a:p>
          <a:p>
            <a:r>
              <a:rPr lang="en-GB" dirty="0">
                <a:solidFill>
                  <a:schemeClr val="bg1"/>
                </a:solidFill>
              </a:rPr>
              <a:t>                   the data sets for further analysis.</a:t>
            </a:r>
            <a:endParaRPr lang="en-GB" dirty="0">
              <a:solidFill>
                <a:schemeClr val="bg1"/>
              </a:solidFill>
            </a:endParaRPr>
          </a:p>
          <a:p>
            <a:endParaRPr lang="en-GB" dirty="0">
              <a:solidFill>
                <a:schemeClr val="bg1"/>
              </a:solidFill>
            </a:endParaRPr>
          </a:p>
          <a:p>
            <a:r>
              <a:rPr lang="en-GB" dirty="0">
                <a:solidFill>
                  <a:srgbClr val="FF0000"/>
                </a:solidFill>
              </a:rPr>
              <a:t>Challenge</a:t>
            </a:r>
            <a:r>
              <a:rPr lang="en-GB" dirty="0">
                <a:solidFill>
                  <a:schemeClr val="bg1"/>
                </a:solidFill>
              </a:rPr>
              <a:t>: we faced an issue  while importing  data into MYSQL due to  the format inconsistencies or large file sizes</a:t>
            </a:r>
            <a:endParaRPr lang="en-GB" dirty="0">
              <a:solidFill>
                <a:schemeClr val="bg1"/>
              </a:solidFill>
            </a:endParaRPr>
          </a:p>
          <a:p>
            <a:r>
              <a:rPr lang="en-GB" dirty="0">
                <a:solidFill>
                  <a:schemeClr val="bg1"/>
                </a:solidFill>
              </a:rPr>
              <a:t> what we did : we resolved  this by cleaning  data in excel first , ensuring consistent data formats, and then successfully</a:t>
            </a:r>
            <a:endParaRPr lang="en-GB" dirty="0">
              <a:solidFill>
                <a:schemeClr val="bg1"/>
              </a:solidFill>
            </a:endParaRPr>
          </a:p>
          <a:p>
            <a:r>
              <a:rPr lang="en-GB" dirty="0">
                <a:solidFill>
                  <a:schemeClr val="bg1"/>
                </a:solidFill>
              </a:rPr>
              <a:t>                        imported the corrected data in MYSQL.</a:t>
            </a:r>
            <a:endParaRPr lang="en-GB" dirty="0">
              <a:solidFill>
                <a:schemeClr val="bg1"/>
              </a:solidFill>
            </a:endParaRPr>
          </a:p>
          <a:p>
            <a:endParaRPr lang="en-GB" dirty="0">
              <a:solidFill>
                <a:schemeClr val="bg1"/>
              </a:solidFill>
            </a:endParaRPr>
          </a:p>
          <a:p>
            <a:r>
              <a:rPr lang="en-GB" dirty="0">
                <a:solidFill>
                  <a:srgbClr val="FF0000"/>
                </a:solidFill>
              </a:rPr>
              <a:t>Challenge </a:t>
            </a:r>
            <a:r>
              <a:rPr lang="en-GB" dirty="0">
                <a:solidFill>
                  <a:schemeClr val="bg1"/>
                </a:solidFill>
              </a:rPr>
              <a:t>: The dates in our data set  had inconsistent formats , making it difficult to analyse timelines accurately </a:t>
            </a:r>
            <a:endParaRPr lang="en-GB" dirty="0">
              <a:solidFill>
                <a:schemeClr val="bg1"/>
              </a:solidFill>
            </a:endParaRPr>
          </a:p>
          <a:p>
            <a:r>
              <a:rPr lang="en-GB" dirty="0">
                <a:solidFill>
                  <a:schemeClr val="bg1"/>
                </a:solidFill>
              </a:rPr>
              <a:t>What we did: we standardize the date by converting them into consistent formula(date/86400) , then transformed  them</a:t>
            </a:r>
            <a:endParaRPr lang="en-GB" dirty="0">
              <a:solidFill>
                <a:schemeClr val="bg1"/>
              </a:solidFill>
            </a:endParaRPr>
          </a:p>
          <a:p>
            <a:r>
              <a:rPr lang="en-GB" dirty="0">
                <a:solidFill>
                  <a:schemeClr val="bg1"/>
                </a:solidFill>
              </a:rPr>
              <a:t>                    into proper date formats for accurate analysis.</a:t>
            </a:r>
            <a:endParaRPr lang="en-GB" dirty="0">
              <a:solidFill>
                <a:schemeClr val="bg1"/>
              </a:solidFill>
            </a:endParaRPr>
          </a:p>
          <a:p>
            <a:r>
              <a:rPr lang="en-GB" dirty="0">
                <a:solidFill>
                  <a:schemeClr val="bg1"/>
                </a:solidFill>
              </a:rPr>
              <a:t> </a:t>
            </a:r>
            <a:endParaRPr lang="en-GB" dirty="0">
              <a:solidFill>
                <a:schemeClr val="bg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7053942" y="4876800"/>
            <a:ext cx="4482124" cy="584775"/>
          </a:xfrm>
          <a:prstGeom prst="rect">
            <a:avLst/>
          </a:prstGeom>
          <a:noFill/>
        </p:spPr>
        <p:txBody>
          <a:bodyPr wrap="none" rtlCol="0">
            <a:spAutoFit/>
          </a:bodyPr>
          <a:lstStyle/>
          <a:p>
            <a:r>
              <a:rPr lang="en-GB" sz="3200" i="1" dirty="0">
                <a:solidFill>
                  <a:schemeClr val="bg1"/>
                </a:solidFill>
                <a:cs typeface="DecoType Naskh" panose="02010400000000000000" pitchFamily="2" charset="-78"/>
              </a:rPr>
              <a:t>For your attention…………</a:t>
            </a:r>
            <a:endParaRPr lang="en-GB" sz="3200" i="1" dirty="0">
              <a:solidFill>
                <a:schemeClr val="bg1"/>
              </a:solidFill>
              <a:cs typeface="DecoType Naskh" panose="02010400000000000000" pitchFamily="2" charset="-78"/>
            </a:endParaRPr>
          </a:p>
        </p:txBody>
      </p:sp>
      <p:pic>
        <p:nvPicPr>
          <p:cNvPr id="29" name="Picture 2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31122" y="583474"/>
            <a:ext cx="7675154" cy="4406538"/>
          </a:xfrm>
          <a:prstGeom prst="rect">
            <a:avLst/>
          </a:prstGeom>
        </p:spPr>
      </p:pic>
    </p:spTree>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20B6E4-879E-4E6C-BDE7-261540CD3765}">
  <ds:schemaRefs/>
</ds:datastoreItem>
</file>

<file path=customXml/itemProps2.xml><?xml version="1.0" encoding="utf-8"?>
<ds:datastoreItem xmlns:ds="http://schemas.openxmlformats.org/officeDocument/2006/customXml" ds:itemID="{09EC1AB0-9704-404D-B6D3-819D938AC55B}">
  <ds:schemaRefs/>
</ds:datastoreItem>
</file>

<file path=customXml/itemProps3.xml><?xml version="1.0" encoding="utf-8"?>
<ds:datastoreItem xmlns:ds="http://schemas.openxmlformats.org/officeDocument/2006/customXml" ds:itemID="{94F21D10-BD83-491A-AAA6-945C2DB1EB01}">
  <ds:schemaRefs/>
</ds:datastoreItem>
</file>

<file path=docProps/app.xml><?xml version="1.0" encoding="utf-8"?>
<Properties xmlns="http://schemas.openxmlformats.org/officeDocument/2006/extended-properties" xmlns:vt="http://schemas.openxmlformats.org/officeDocument/2006/docPropsVTypes">
  <Template>Geometric annual presentation</Template>
  <TotalTime>0</TotalTime>
  <Words>9478</Words>
  <Application>WPS Presentation</Application>
  <PresentationFormat>Widescreen</PresentationFormat>
  <Paragraphs>263</Paragraphs>
  <Slides>23</Slides>
  <Notes>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23</vt:i4>
      </vt:variant>
    </vt:vector>
  </HeadingPairs>
  <TitlesOfParts>
    <vt:vector size="39" baseType="lpstr">
      <vt:lpstr>Arial</vt:lpstr>
      <vt:lpstr>SimSun</vt:lpstr>
      <vt:lpstr>Wingdings</vt:lpstr>
      <vt:lpstr>Calibi</vt:lpstr>
      <vt:lpstr>Segoe Print</vt:lpstr>
      <vt:lpstr>Calibri</vt:lpstr>
      <vt:lpstr>Calibri</vt:lpstr>
      <vt:lpstr>Lora</vt:lpstr>
      <vt:lpstr>Franklin Gothic Demi</vt:lpstr>
      <vt:lpstr>Franklin Gothic Book</vt:lpstr>
      <vt:lpstr>Microsoft YaHei</vt:lpstr>
      <vt:lpstr>Arial Unicode MS</vt:lpstr>
      <vt:lpstr>Times New Roman</vt:lpstr>
      <vt:lpstr>DecoType Naskh</vt:lpstr>
      <vt:lpstr>Segoe UI Semilight</vt:lpstr>
      <vt:lpstr>Theme1</vt:lpstr>
      <vt:lpstr>Crowd funding </vt:lpstr>
      <vt:lpstr>Presentation Overview</vt:lpstr>
      <vt:lpstr>PowerPoint 演示文稿</vt:lpstr>
      <vt:lpstr>PowerPoint 演示文稿</vt:lpstr>
      <vt:lpstr>Project Overview</vt:lpstr>
      <vt:lpstr>YEAR WISE TRENDS IN PROJECTS</vt:lpstr>
      <vt:lpstr>STATE OF PROJECTS</vt:lpstr>
      <vt:lpstr>Percentage of Successful projects  by Goal Range</vt:lpstr>
      <vt:lpstr>PowerPoint 演示文稿</vt:lpstr>
      <vt:lpstr>Top 3 Projects based on Category</vt:lpstr>
      <vt:lpstr>Top 3 category wise amount raised</vt:lpstr>
      <vt:lpstr>Top 3 Backers with Amount Raised</vt:lpstr>
      <vt:lpstr>PowerPoint 演示文稿</vt:lpstr>
      <vt:lpstr>Total Number of Projects based on Locations</vt:lpstr>
      <vt:lpstr>State-Wise Amount Raised</vt:lpstr>
      <vt:lpstr>Data Visualization with Power BI</vt:lpstr>
      <vt:lpstr>Data visualization by Tableau</vt:lpstr>
      <vt:lpstr>Data visualization by Excel</vt:lpstr>
      <vt:lpstr>SQL QUERIES</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nazeema shaik</dc:creator>
  <cp:lastModifiedBy>PRIYA PRAMOD DAKHORE</cp:lastModifiedBy>
  <cp:revision>11</cp:revision>
  <dcterms:created xsi:type="dcterms:W3CDTF">2024-10-06T14:02:00Z</dcterms:created>
  <dcterms:modified xsi:type="dcterms:W3CDTF">2024-11-19T03:12:33Z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2884B6BDEA8A421BB9FC134366388797_12</vt:lpwstr>
  </property>
  <property fmtid="{D5CDD505-2E9C-101B-9397-08002B2CF9AE}" pid="4" name="KSOProductBuildVer">
    <vt:lpwstr>1033-12.2.0.18607</vt:lpwstr>
  </property>
</Properties>
</file>